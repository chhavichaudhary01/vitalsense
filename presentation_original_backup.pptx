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DM Sans Bold" charset="1" panose="00000000000000000000"/>
      <p:regular r:id="rId17"/>
    </p:embeddedFont>
    <p:embeddedFont>
      <p:font typeface="Arimo Bold" charset="1" panose="020B0704020202020204"/>
      <p:regular r:id="rId18"/>
    </p:embeddedFont>
    <p:embeddedFont>
      <p:font typeface="Calibri (MS)" charset="1" panose="020F0502020204030204"/>
      <p:regular r:id="rId19"/>
    </p:embeddedFont>
    <p:embeddedFont>
      <p:font typeface="DM Sans" charset="1" panose="00000000000000000000"/>
      <p:regular r:id="rId20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5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jpeg" Type="http://schemas.openxmlformats.org/officeDocument/2006/relationships/image"/><Relationship Id="rId4" Target="../media/image6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1.pn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jpeg" Type="http://schemas.openxmlformats.org/officeDocument/2006/relationships/image"/><Relationship Id="rId4" Target="../media/image6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who.int/health-topics/digital-health" TargetMode="External" Type="http://schemas.openxmlformats.org/officeDocument/2006/relationships/hyperlink"/><Relationship Id="rId11" Target="https://dataintensive.net" TargetMode="External" Type="http://schemas.openxmlformats.org/officeDocument/2006/relationships/hyperlink"/><Relationship Id="rId12" Target="https://en.wikipedia.org/wiki/M/M/1_queue" TargetMode="External" Type="http://schemas.openxmlformats.org/officeDocument/2006/relationships/hyperlink"/><Relationship Id="rId13" Target="https://developers.google.com/ml-kit/vision/text-recognition/v2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Relationship Id="rId4" Target="../media/image6.png" Type="http://schemas.openxmlformats.org/officeDocument/2006/relationships/image"/><Relationship Id="rId5" Target="https://abdm.gov.in" TargetMode="External" Type="http://schemas.openxmlformats.org/officeDocument/2006/relationships/hyperlink"/><Relationship Id="rId6" Target="https://nhm.gov.in/index1.php?lang=1&amp;level=1&amp;sublinkid=150&amp;lid=226" TargetMode="External" Type="http://schemas.openxmlformats.org/officeDocument/2006/relationships/hyperlink"/><Relationship Id="rId7" Target="https://idsp.mohfw.gov.in" TargetMode="External" Type="http://schemas.openxmlformats.org/officeDocument/2006/relationships/hyperlink"/><Relationship Id="rId8" Target="https://esanjeevani.mohfw.gov.in" TargetMode="External" Type="http://schemas.openxmlformats.org/officeDocument/2006/relationships/hyperlink"/><Relationship Id="rId9" Target="https://www.who.int/publications/i/item/9789241549790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39433" y="-395447"/>
            <a:ext cx="21953081" cy="16403914"/>
          </a:xfrm>
          <a:custGeom>
            <a:avLst/>
            <a:gdLst/>
            <a:ahLst/>
            <a:cxnLst/>
            <a:rect r="r" b="b" t="t" l="l"/>
            <a:pathLst>
              <a:path h="16403914" w="21953081">
                <a:moveTo>
                  <a:pt x="0" y="0"/>
                </a:moveTo>
                <a:lnTo>
                  <a:pt x="21953080" y="0"/>
                </a:lnTo>
                <a:lnTo>
                  <a:pt x="21953080" y="16403914"/>
                </a:lnTo>
                <a:lnTo>
                  <a:pt x="0" y="16403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143" r="-10787" b="-301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9008" y="662999"/>
            <a:ext cx="16669983" cy="8961003"/>
            <a:chOff x="0" y="0"/>
            <a:chExt cx="4390448" cy="2360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0448" cy="2360100"/>
            </a:xfrm>
            <a:custGeom>
              <a:avLst/>
              <a:gdLst/>
              <a:ahLst/>
              <a:cxnLst/>
              <a:rect r="r" b="b" t="t" l="l"/>
              <a:pathLst>
                <a:path h="2360100" w="4390448">
                  <a:moveTo>
                    <a:pt x="0" y="0"/>
                  </a:moveTo>
                  <a:lnTo>
                    <a:pt x="4390448" y="0"/>
                  </a:lnTo>
                  <a:lnTo>
                    <a:pt x="4390448" y="2360100"/>
                  </a:lnTo>
                  <a:lnTo>
                    <a:pt x="0" y="2360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390448" cy="2379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63992" y="2245879"/>
            <a:ext cx="6301430" cy="7002896"/>
            <a:chOff x="0" y="0"/>
            <a:chExt cx="8401906" cy="9337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01906" cy="9337195"/>
            </a:xfrm>
            <a:custGeom>
              <a:avLst/>
              <a:gdLst/>
              <a:ahLst/>
              <a:cxnLst/>
              <a:rect r="r" b="b" t="t" l="l"/>
              <a:pathLst>
                <a:path h="9337195" w="8401906">
                  <a:moveTo>
                    <a:pt x="0" y="0"/>
                  </a:moveTo>
                  <a:lnTo>
                    <a:pt x="8401906" y="0"/>
                  </a:lnTo>
                  <a:lnTo>
                    <a:pt x="8401906" y="9337195"/>
                  </a:lnTo>
                  <a:lnTo>
                    <a:pt x="0" y="9337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2128912" y="2092475"/>
              <a:ext cx="5802521" cy="6205945"/>
              <a:chOff x="0" y="0"/>
              <a:chExt cx="6407023" cy="685247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407023" cy="6852412"/>
              </a:xfrm>
              <a:custGeom>
                <a:avLst/>
                <a:gdLst/>
                <a:ahLst/>
                <a:cxnLst/>
                <a:rect r="r" b="b" t="t" l="l"/>
                <a:pathLst>
                  <a:path h="6852412" w="6407023">
                    <a:moveTo>
                      <a:pt x="0" y="0"/>
                    </a:moveTo>
                    <a:lnTo>
                      <a:pt x="6407023" y="0"/>
                    </a:lnTo>
                    <a:lnTo>
                      <a:pt x="6407023" y="6852412"/>
                    </a:lnTo>
                    <a:lnTo>
                      <a:pt x="0" y="68524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149475" b="-1"/>
                </a:stretch>
              </a:blipFill>
            </p:spPr>
          </p:sp>
        </p:grpSp>
      </p:grpSp>
      <p:grpSp>
        <p:nvGrpSpPr>
          <p:cNvPr name="Group 10" id="10"/>
          <p:cNvGrpSpPr/>
          <p:nvPr/>
        </p:nvGrpSpPr>
        <p:grpSpPr>
          <a:xfrm rot="0">
            <a:off x="1926382" y="236430"/>
            <a:ext cx="14078149" cy="2820806"/>
            <a:chOff x="0" y="0"/>
            <a:chExt cx="20726400" cy="415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18219" y="2490648"/>
            <a:ext cx="8845773" cy="6219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2"/>
              </a:lnSpc>
            </a:pPr>
          </a:p>
          <a:p>
            <a:pPr algn="just" marL="590040" indent="-295020" lvl="1">
              <a:lnSpc>
                <a:spcPts val="7824"/>
              </a:lnSpc>
              <a:buFont typeface="Arial"/>
              <a:buChar char="•"/>
            </a:pPr>
            <a:r>
              <a:rPr lang="en-US" b="true" sz="326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  <a:r>
              <a:rPr lang="en-US" b="true" sz="326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SIH26133</a:t>
            </a:r>
            <a:r>
              <a:rPr lang="en-US" b="true" sz="326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just" marL="590040" indent="-295020" lvl="1">
              <a:lnSpc>
                <a:spcPts val="7824"/>
              </a:lnSpc>
              <a:buFont typeface="Arial"/>
              <a:buChar char="•"/>
            </a:pPr>
            <a:r>
              <a:rPr lang="en-US" b="true" sz="326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b="true" sz="326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VitalSense</a:t>
            </a:r>
          </a:p>
          <a:p>
            <a:pPr algn="just" marL="590040" indent="-295020" lvl="1">
              <a:lnSpc>
                <a:spcPts val="7824"/>
              </a:lnSpc>
              <a:buFont typeface="Arial"/>
              <a:buChar char="•"/>
            </a:pPr>
            <a:r>
              <a:rPr lang="en-US" b="true" sz="326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b="true" sz="326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MedTech/BioTech/ HealthTech</a:t>
            </a:r>
          </a:p>
          <a:p>
            <a:pPr algn="just" marL="590040" indent="-295020" lvl="1">
              <a:lnSpc>
                <a:spcPts val="7824"/>
              </a:lnSpc>
              <a:buFont typeface="Arial"/>
              <a:buChar char="•"/>
            </a:pPr>
            <a:r>
              <a:rPr lang="en-US" b="true" sz="326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326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just" marL="590040" indent="-295020" lvl="1">
              <a:lnSpc>
                <a:spcPts val="7824"/>
              </a:lnSpc>
              <a:buFont typeface="Arial"/>
              <a:buChar char="•"/>
            </a:pPr>
            <a:r>
              <a:rPr lang="en-US" b="true" sz="326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b="true" sz="326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1049</a:t>
            </a:r>
          </a:p>
          <a:p>
            <a:pPr algn="just" marL="590040" indent="-295020" lvl="1">
              <a:lnSpc>
                <a:spcPts val="7824"/>
              </a:lnSpc>
              <a:buFont typeface="Arial"/>
              <a:buChar char="•"/>
            </a:pPr>
            <a:r>
              <a:rPr lang="en-US" b="true" sz="326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b="true" sz="326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ArogyaX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138691" y="653474"/>
            <a:ext cx="2264101" cy="1069065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35728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4294" y="-706909"/>
            <a:ext cx="16459200" cy="2083726"/>
            <a:chOff x="0" y="0"/>
            <a:chExt cx="21945600" cy="27783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778302"/>
            </a:xfrm>
            <a:custGeom>
              <a:avLst/>
              <a:gdLst/>
              <a:ahLst/>
              <a:cxnLst/>
              <a:rect r="r" b="b" t="t" l="l"/>
              <a:pathLst>
                <a:path h="27783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778302"/>
                  </a:lnTo>
                  <a:lnTo>
                    <a:pt x="0" y="27783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770" r="0" b="-950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778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59"/>
                </a:lnSpc>
              </a:pPr>
            </a:p>
            <a:p>
              <a:pPr algn="ctr">
                <a:lnSpc>
                  <a:spcPts val="7799"/>
                </a:lnSpc>
              </a:pPr>
              <a:r>
                <a:rPr lang="en-US" sz="6499" b="true">
                  <a:solidFill>
                    <a:srgbClr val="004A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VitalSense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698364" y="9684123"/>
            <a:ext cx="4267200" cy="564777"/>
            <a:chOff x="0" y="0"/>
            <a:chExt cx="5689600" cy="7530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53036"/>
            </a:xfrm>
            <a:custGeom>
              <a:avLst/>
              <a:gdLst/>
              <a:ahLst/>
              <a:cxnLst/>
              <a:rect r="r" b="b" t="t" l="l"/>
              <a:pathLst>
                <a:path h="75303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53036"/>
                  </a:lnTo>
                  <a:lnTo>
                    <a:pt x="0" y="7530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33" r="0" b="-9570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720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84294" y="158527"/>
            <a:ext cx="1948849" cy="1270589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ogyaX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47553" y="158527"/>
            <a:ext cx="2714617" cy="1281790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8155015" y="1818465"/>
            <a:ext cx="10314119" cy="6876079"/>
          </a:xfrm>
          <a:custGeom>
            <a:avLst/>
            <a:gdLst/>
            <a:ahLst/>
            <a:cxnLst/>
            <a:rect r="r" b="b" t="t" l="l"/>
            <a:pathLst>
              <a:path h="6876079" w="10314119">
                <a:moveTo>
                  <a:pt x="0" y="0"/>
                </a:moveTo>
                <a:lnTo>
                  <a:pt x="10314119" y="0"/>
                </a:lnTo>
                <a:lnTo>
                  <a:pt x="10314119" y="6876080"/>
                </a:lnTo>
                <a:lnTo>
                  <a:pt x="0" y="6876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43824" y="5521994"/>
            <a:ext cx="7220182" cy="3860075"/>
            <a:chOff x="0" y="0"/>
            <a:chExt cx="2805744" cy="15000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05744" cy="1500015"/>
            </a:xfrm>
            <a:custGeom>
              <a:avLst/>
              <a:gdLst/>
              <a:ahLst/>
              <a:cxnLst/>
              <a:rect r="r" b="b" t="t" l="l"/>
              <a:pathLst>
                <a:path h="1500015" w="2805744">
                  <a:moveTo>
                    <a:pt x="0" y="0"/>
                  </a:moveTo>
                  <a:lnTo>
                    <a:pt x="2805744" y="0"/>
                  </a:lnTo>
                  <a:lnTo>
                    <a:pt x="2805744" y="1500015"/>
                  </a:lnTo>
                  <a:lnTo>
                    <a:pt x="0" y="1500015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805744" cy="1500015"/>
            </a:xfrm>
            <a:prstGeom prst="rect">
              <a:avLst/>
            </a:prstGeom>
          </p:spPr>
          <p:txBody>
            <a:bodyPr anchor="ctr" rtlCol="false" tIns="34279" lIns="34279" bIns="34279" rIns="34279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5249" y="1674960"/>
            <a:ext cx="7220182" cy="3611550"/>
            <a:chOff x="0" y="0"/>
            <a:chExt cx="2805744" cy="14034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05744" cy="1403439"/>
            </a:xfrm>
            <a:custGeom>
              <a:avLst/>
              <a:gdLst/>
              <a:ahLst/>
              <a:cxnLst/>
              <a:rect r="r" b="b" t="t" l="l"/>
              <a:pathLst>
                <a:path h="1403439" w="2805744">
                  <a:moveTo>
                    <a:pt x="0" y="0"/>
                  </a:moveTo>
                  <a:lnTo>
                    <a:pt x="2805744" y="0"/>
                  </a:lnTo>
                  <a:lnTo>
                    <a:pt x="2805744" y="1403439"/>
                  </a:lnTo>
                  <a:lnTo>
                    <a:pt x="0" y="140343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38E44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805744" cy="1403439"/>
            </a:xfrm>
            <a:prstGeom prst="rect">
              <a:avLst/>
            </a:prstGeom>
          </p:spPr>
          <p:txBody>
            <a:bodyPr anchor="ctr" rtlCol="false" tIns="34279" lIns="34279" bIns="34279" rIns="34279"/>
            <a:lstStyle/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92935" y="6042917"/>
            <a:ext cx="7083156" cy="345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One Connected Platform: 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Brings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patients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ASHA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workers,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doctors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admins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together.</a:t>
            </a:r>
          </a:p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Offline Healthcare: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Room + sync system allows important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work 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even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without internet.</a:t>
            </a:r>
          </a:p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Patient Records: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Connects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patient, prescription, lab and medical data.</a:t>
            </a:r>
          </a:p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Referral Management: 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Dedicated referral modules help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connect patients with the right care.</a:t>
            </a:r>
          </a:p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OPD &amp; Appointment System: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Supports appointments and queue management to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reduce waiting.</a:t>
            </a:r>
          </a:p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Health Monitoring: 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Admin dashboards and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outbreak tracking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help monitor village-level health trends.</a:t>
            </a:r>
          </a:p>
          <a:p>
            <a:pPr algn="l">
              <a:lnSpc>
                <a:spcPts val="216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24653" y="5604566"/>
            <a:ext cx="2228097" cy="39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Our Solution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5724" y="2214933"/>
            <a:ext cx="7141746" cy="318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Limited Rural Access: 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Patients face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long travel</a:t>
            </a: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</a:t>
            </a:r>
            <a:r>
              <a:rPr lang="en-US" sz="1549">
                <a:solidFill>
                  <a:srgbClr val="0070C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limited specialist access.</a:t>
            </a:r>
          </a:p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Poor Connectivity: 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Rural areas may have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weak or no internet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affecting healthcare access.</a:t>
            </a:r>
          </a:p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Fragmented Records: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Patient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information is spread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across different healthcare services.</a:t>
            </a:r>
          </a:p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Delayed Referrals: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Lack of proper referral tracking can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delay treatment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Long Waiting Time: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Manual OPD appointments and queues increase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waiting.</a:t>
            </a:r>
          </a:p>
          <a:p>
            <a:pPr algn="l" marL="334620" indent="-167310" lvl="1">
              <a:lnSpc>
                <a:spcPts val="2169"/>
              </a:lnSpc>
              <a:buFont typeface="Arial"/>
              <a:buChar char="•"/>
            </a:pPr>
            <a:r>
              <a:rPr lang="en-US" b="true" sz="15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Weak Health Monitoring: 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Health officials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lack centralized</a:t>
            </a:r>
            <a:r>
              <a:rPr lang="en-US" sz="1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village-level data for </a:t>
            </a:r>
            <a:r>
              <a:rPr lang="en-US" b="true" sz="154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monitoring.</a:t>
            </a:r>
          </a:p>
          <a:p>
            <a:pPr algn="l">
              <a:lnSpc>
                <a:spcPts val="216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496078" y="1770840"/>
            <a:ext cx="2228097" cy="39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3" y="9759587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38092" y="0"/>
            <a:ext cx="12499485" cy="130203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4A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77703" y="9739312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76321" y="222864"/>
            <a:ext cx="1535820" cy="1001307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ogyaX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507370" y="94670"/>
            <a:ext cx="2663588" cy="1257695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69732" y="1692646"/>
            <a:ext cx="5720875" cy="3758949"/>
            <a:chOff x="0" y="0"/>
            <a:chExt cx="1506733" cy="9900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06733" cy="990011"/>
            </a:xfrm>
            <a:custGeom>
              <a:avLst/>
              <a:gdLst/>
              <a:ahLst/>
              <a:cxnLst/>
              <a:rect r="r" b="b" t="t" l="l"/>
              <a:pathLst>
                <a:path h="990011" w="1506733">
                  <a:moveTo>
                    <a:pt x="0" y="0"/>
                  </a:moveTo>
                  <a:lnTo>
                    <a:pt x="1506733" y="0"/>
                  </a:lnTo>
                  <a:lnTo>
                    <a:pt x="1506733" y="990011"/>
                  </a:lnTo>
                  <a:lnTo>
                    <a:pt x="0" y="990011"/>
                  </a:lnTo>
                  <a:close/>
                </a:path>
              </a:pathLst>
            </a:custGeom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506733" cy="1009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194074" y="1867390"/>
            <a:ext cx="5205952" cy="3409460"/>
          </a:xfrm>
          <a:custGeom>
            <a:avLst/>
            <a:gdLst/>
            <a:ahLst/>
            <a:cxnLst/>
            <a:rect r="r" b="b" t="t" l="l"/>
            <a:pathLst>
              <a:path h="3409460" w="5205952">
                <a:moveTo>
                  <a:pt x="0" y="0"/>
                </a:moveTo>
                <a:lnTo>
                  <a:pt x="5205952" y="0"/>
                </a:lnTo>
                <a:lnTo>
                  <a:pt x="5205952" y="3409460"/>
                </a:lnTo>
                <a:lnTo>
                  <a:pt x="0" y="3409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06" t="-970" r="-2034" b="-4835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8100" y="1610327"/>
            <a:ext cx="13098307" cy="7682535"/>
          </a:xfrm>
          <a:custGeom>
            <a:avLst/>
            <a:gdLst/>
            <a:ahLst/>
            <a:cxnLst/>
            <a:rect r="r" b="b" t="t" l="l"/>
            <a:pathLst>
              <a:path h="7682535" w="13098307">
                <a:moveTo>
                  <a:pt x="0" y="0"/>
                </a:moveTo>
                <a:lnTo>
                  <a:pt x="13098307" y="0"/>
                </a:lnTo>
                <a:lnTo>
                  <a:pt x="13098307" y="7682535"/>
                </a:lnTo>
                <a:lnTo>
                  <a:pt x="0" y="76825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832" r="0" b="-183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629019" y="5842119"/>
            <a:ext cx="4008643" cy="3097426"/>
            <a:chOff x="0" y="0"/>
            <a:chExt cx="5344858" cy="41299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940270" y="0"/>
              <a:ext cx="3464317" cy="3558053"/>
            </a:xfrm>
            <a:custGeom>
              <a:avLst/>
              <a:gdLst/>
              <a:ahLst/>
              <a:cxnLst/>
              <a:rect r="r" b="b" t="t" l="l"/>
              <a:pathLst>
                <a:path h="3558053" w="3464317">
                  <a:moveTo>
                    <a:pt x="0" y="0"/>
                  </a:moveTo>
                  <a:lnTo>
                    <a:pt x="3464317" y="0"/>
                  </a:lnTo>
                  <a:lnTo>
                    <a:pt x="3464317" y="3558053"/>
                  </a:lnTo>
                  <a:lnTo>
                    <a:pt x="0" y="355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951" t="-4023" r="-6248" b="-229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3510428"/>
              <a:ext cx="5344858" cy="619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93"/>
                </a:lnSpc>
              </a:pPr>
              <a:r>
                <a:rPr lang="en-US" sz="2924" b="true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Scan for prototype!!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139238" y="4991100"/>
            <a:ext cx="95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347" y="9711608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14668" y="5293517"/>
            <a:ext cx="6495713" cy="4342697"/>
          </a:xfrm>
          <a:custGeom>
            <a:avLst/>
            <a:gdLst/>
            <a:ahLst/>
            <a:cxnLst/>
            <a:rect r="r" b="b" t="t" l="l"/>
            <a:pathLst>
              <a:path h="4342697" w="6495713">
                <a:moveTo>
                  <a:pt x="0" y="0"/>
                </a:moveTo>
                <a:lnTo>
                  <a:pt x="6495714" y="0"/>
                </a:lnTo>
                <a:lnTo>
                  <a:pt x="6495714" y="4342697"/>
                </a:lnTo>
                <a:lnTo>
                  <a:pt x="0" y="4342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9" t="-1972" r="-2222" b="-101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" y="-250495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3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FEASIBILITY AND VIABILITY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873832" y="1016252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5073" y="71310"/>
            <a:ext cx="1810953" cy="1180686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ogyaX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390974" y="187581"/>
            <a:ext cx="2690156" cy="1270240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1661776"/>
            <a:ext cx="8115300" cy="3424445"/>
            <a:chOff x="0" y="0"/>
            <a:chExt cx="10820400" cy="456592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820400" cy="4565926"/>
              <a:chOff x="0" y="0"/>
              <a:chExt cx="1538983" cy="64941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38983" cy="649411"/>
              </a:xfrm>
              <a:custGeom>
                <a:avLst/>
                <a:gdLst/>
                <a:ahLst/>
                <a:cxnLst/>
                <a:rect r="r" b="b" t="t" l="l"/>
                <a:pathLst>
                  <a:path h="649411" w="1538983">
                    <a:moveTo>
                      <a:pt x="0" y="0"/>
                    </a:moveTo>
                    <a:lnTo>
                      <a:pt x="1538983" y="0"/>
                    </a:lnTo>
                    <a:lnTo>
                      <a:pt x="1538983" y="649411"/>
                    </a:lnTo>
                    <a:lnTo>
                      <a:pt x="0" y="649411"/>
                    </a:lnTo>
                    <a:close/>
                  </a:path>
                </a:pathLst>
              </a:custGeom>
              <a:ln w="38100" cap="sq">
                <a:solidFill>
                  <a:srgbClr val="FC9223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1538983" cy="649411"/>
              </a:xfrm>
              <a:prstGeom prst="rect">
                <a:avLst/>
              </a:prstGeom>
            </p:spPr>
            <p:txBody>
              <a:bodyPr anchor="ctr" rtlCol="false" tIns="70552" lIns="70552" bIns="70552" rIns="70552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83726" y="212854"/>
              <a:ext cx="9275834" cy="451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4"/>
                </a:lnSpc>
              </a:pPr>
              <a:r>
                <a:rPr lang="en-US" sz="2081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Analysis of the Feasibility of the Idea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9506" y="807877"/>
              <a:ext cx="10637360" cy="3540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1409" indent="-170705" lvl="1">
                <a:lnSpc>
                  <a:spcPts val="2213"/>
                </a:lnSpc>
                <a:buFont typeface="Arial"/>
                <a:buChar char="•"/>
              </a:pPr>
              <a:r>
                <a:rPr lang="en-US" b="true" sz="15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Proven Tech: </a:t>
              </a:r>
              <a:r>
                <a:rPr lang="en-US" sz="158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Built with </a:t>
              </a:r>
              <a:r>
                <a:rPr lang="en-US" b="true" sz="1581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Kotlin, Jetpack Compose, Room, Firebase, Hilt &amp; WorkManager.</a:t>
              </a:r>
            </a:p>
            <a:p>
              <a:pPr algn="l" marL="341409" indent="-170705" lvl="1">
                <a:lnSpc>
                  <a:spcPts val="2213"/>
                </a:lnSpc>
                <a:buFont typeface="Arial"/>
                <a:buChar char="•"/>
              </a:pPr>
              <a:r>
                <a:rPr lang="en-US" b="true" sz="15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Offline Support: </a:t>
              </a:r>
              <a:r>
                <a:rPr lang="en-US" b="true" sz="1581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Local storage + background sync </a:t>
              </a:r>
              <a:r>
                <a:rPr lang="en-US" sz="158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keeps the app usable with poor internet.</a:t>
              </a:r>
            </a:p>
            <a:p>
              <a:pPr algn="l" marL="341409" indent="-170705" lvl="1">
                <a:lnSpc>
                  <a:spcPts val="2213"/>
                </a:lnSpc>
                <a:buFont typeface="Arial"/>
                <a:buChar char="•"/>
              </a:pPr>
              <a:r>
                <a:rPr lang="en-US" b="true" sz="15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Working Modules: </a:t>
              </a:r>
              <a:r>
                <a:rPr lang="en-US" sz="158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Includes </a:t>
              </a:r>
              <a:r>
                <a:rPr lang="en-US" b="true" sz="1581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Patient, ASHA, Doctor, Lab, OPD, Referral, Blood Bank &amp; Admin.</a:t>
              </a:r>
            </a:p>
            <a:p>
              <a:pPr algn="l" marL="341409" indent="-170705" lvl="1">
                <a:lnSpc>
                  <a:spcPts val="2213"/>
                </a:lnSpc>
                <a:buFont typeface="Arial"/>
                <a:buChar char="•"/>
              </a:pPr>
              <a:r>
                <a:rPr lang="en-US" b="true" sz="15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Real-Time Updates: </a:t>
              </a:r>
              <a:r>
                <a:rPr lang="en-US" b="true" sz="1581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Firebase Functions + FCM </a:t>
              </a:r>
              <a:r>
                <a:rPr lang="en-US" sz="158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handle notifications and queue updates.</a:t>
              </a:r>
            </a:p>
            <a:p>
              <a:pPr algn="l" marL="341409" indent="-170705" lvl="1">
                <a:lnSpc>
                  <a:spcPts val="2213"/>
                </a:lnSpc>
                <a:buFont typeface="Arial"/>
                <a:buChar char="•"/>
              </a:pPr>
              <a:r>
                <a:rPr lang="en-US" b="true" sz="15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 &amp; Maps: </a:t>
              </a:r>
              <a:r>
                <a:rPr lang="en-US" b="true" sz="1581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ML Kit OCR </a:t>
              </a:r>
              <a:r>
                <a:rPr lang="en-US" sz="158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supports prescription digitization and Places API supports location services.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35077" y="5480245"/>
            <a:ext cx="9833345" cy="512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2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7626523" y="9718986"/>
            <a:ext cx="21520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89647" y="5721217"/>
            <a:ext cx="9219688" cy="3472140"/>
            <a:chOff x="0" y="0"/>
            <a:chExt cx="12292917" cy="462952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1456426" cy="4627658"/>
              <a:chOff x="0" y="0"/>
              <a:chExt cx="2550926" cy="103041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550926" cy="1030410"/>
              </a:xfrm>
              <a:custGeom>
                <a:avLst/>
                <a:gdLst/>
                <a:ahLst/>
                <a:cxnLst/>
                <a:rect r="r" b="b" t="t" l="l"/>
                <a:pathLst>
                  <a:path h="1030410" w="2550926">
                    <a:moveTo>
                      <a:pt x="0" y="0"/>
                    </a:moveTo>
                    <a:lnTo>
                      <a:pt x="2550926" y="0"/>
                    </a:lnTo>
                    <a:lnTo>
                      <a:pt x="2550926" y="1030410"/>
                    </a:lnTo>
                    <a:lnTo>
                      <a:pt x="0" y="1030410"/>
                    </a:lnTo>
                    <a:close/>
                  </a:path>
                </a:pathLst>
              </a:custGeom>
              <a:ln w="38100" cap="sq">
                <a:solidFill>
                  <a:srgbClr val="138E44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9050"/>
                <a:ext cx="2550926" cy="1049460"/>
              </a:xfrm>
              <a:prstGeom prst="rect">
                <a:avLst/>
              </a:prstGeom>
            </p:spPr>
            <p:txBody>
              <a:bodyPr anchor="ctr" rtlCol="false" tIns="45066" lIns="45066" bIns="45066" rIns="45066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07439" y="258582"/>
              <a:ext cx="8738952" cy="481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79"/>
                </a:lnSpc>
              </a:pPr>
              <a:r>
                <a:rPr lang="en-US" sz="21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Strategies to Overcome Challenges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1003225"/>
              <a:ext cx="12292917" cy="3626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381738" indent="-190869" lvl="1">
                <a:lnSpc>
                  <a:spcPts val="2475"/>
                </a:lnSpc>
                <a:buFont typeface="Arial"/>
                <a:buChar char="•"/>
              </a:pPr>
              <a:r>
                <a:rPr lang="en-US" b="true" sz="176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Offline-first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Room DB + Outbox queue</a:t>
              </a:r>
              <a:r>
                <a:rPr lang="en-US" b="true" sz="1768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→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works 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during poor/no internet.</a:t>
              </a:r>
            </a:p>
            <a:p>
              <a:pPr algn="just" marL="381738" indent="-190869" lvl="1">
                <a:lnSpc>
                  <a:spcPts val="2475"/>
                </a:lnSpc>
                <a:buFont typeface="Arial"/>
                <a:buChar char="•"/>
              </a:pPr>
              <a:r>
                <a:rPr lang="en-US" b="true" sz="176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Reliable Sync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Queued writes + retries</a:t>
              </a:r>
              <a:r>
                <a:rPr lang="en-US" b="true" sz="1768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→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minimizes data loss.</a:t>
              </a:r>
            </a:p>
            <a:p>
              <a:pPr algn="just" marL="381738" indent="-190869" lvl="1">
                <a:lnSpc>
                  <a:spcPts val="2475"/>
                </a:lnSpc>
                <a:buFont typeface="Arial"/>
                <a:buChar char="•"/>
              </a:pPr>
              <a:r>
                <a:rPr lang="en-US" b="true" sz="176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Real-time Care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Firestore listeners</a:t>
              </a:r>
              <a:r>
                <a:rPr lang="en-US" b="true" sz="1768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→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instant case/notice updates.</a:t>
              </a:r>
            </a:p>
            <a:p>
              <a:pPr algn="just" marL="381738" indent="-190869" lvl="1">
                <a:lnSpc>
                  <a:spcPts val="2475"/>
                </a:lnSpc>
                <a:buFont typeface="Arial"/>
                <a:buChar char="•"/>
              </a:pPr>
              <a:r>
                <a:rPr lang="en-US" b="true" sz="176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Timely Consultations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WorkManager </a:t>
              </a:r>
              <a:r>
                <a:rPr lang="en-US" b="true" sz="1768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→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automated appointment reminders.</a:t>
              </a:r>
            </a:p>
            <a:p>
              <a:pPr algn="just" marL="381738" indent="-190869" lvl="1">
                <a:lnSpc>
                  <a:spcPts val="2475"/>
                </a:lnSpc>
                <a:buFont typeface="Arial"/>
                <a:buChar char="•"/>
              </a:pPr>
              <a:r>
                <a:rPr lang="en-US" b="true" sz="176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Fair OPD Queue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Firestore transactions </a:t>
              </a:r>
              <a:r>
                <a:rPr lang="en-US" b="true" sz="1768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→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unique authoritative tokens.</a:t>
              </a:r>
            </a:p>
            <a:p>
              <a:pPr algn="just" marL="381738" indent="-190869" lvl="1">
                <a:lnSpc>
                  <a:spcPts val="2475"/>
                </a:lnSpc>
                <a:buFont typeface="Arial"/>
                <a:buChar char="•"/>
              </a:pPr>
              <a:r>
                <a:rPr lang="en-US" b="true" sz="176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Secure Access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Firebase Authentication + security rules.</a:t>
              </a:r>
            </a:p>
            <a:p>
              <a:pPr algn="just" marL="381738" indent="-190869" lvl="1">
                <a:lnSpc>
                  <a:spcPts val="2475"/>
                </a:lnSpc>
                <a:buFont typeface="Arial"/>
                <a:buChar char="•"/>
              </a:pPr>
              <a:r>
                <a:rPr lang="en-US" b="true" sz="176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Interoperable Records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ABDM/ABHA integration + consent flow.</a:t>
              </a:r>
            </a:p>
            <a:p>
              <a:pPr algn="just" marL="381738" indent="-190869" lvl="1">
                <a:lnSpc>
                  <a:spcPts val="2475"/>
                </a:lnSpc>
                <a:buFont typeface="Arial"/>
                <a:buChar char="•"/>
              </a:pPr>
              <a:r>
                <a:rPr lang="en-US" b="true" sz="176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Structured Data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Typed entities/enums</a:t>
              </a:r>
              <a:r>
                <a:rPr lang="en-US" b="true" sz="1768">
                  <a:solidFill>
                    <a:srgbClr val="004A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→</a:t>
              </a:r>
              <a:r>
                <a:rPr lang="en-US" sz="17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fewer inconsistent records.</a:t>
              </a:r>
            </a:p>
            <a:p>
              <a:pPr algn="just">
                <a:lnSpc>
                  <a:spcPts val="2475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014410" y="1506789"/>
            <a:ext cx="7140115" cy="3815430"/>
          </a:xfrm>
          <a:custGeom>
            <a:avLst/>
            <a:gdLst/>
            <a:ahLst/>
            <a:cxnLst/>
            <a:rect r="r" b="b" t="t" l="l"/>
            <a:pathLst>
              <a:path h="3815430" w="7140115">
                <a:moveTo>
                  <a:pt x="0" y="0"/>
                </a:moveTo>
                <a:lnTo>
                  <a:pt x="7140115" y="0"/>
                </a:lnTo>
                <a:lnTo>
                  <a:pt x="7140115" y="3815430"/>
                </a:lnTo>
                <a:lnTo>
                  <a:pt x="0" y="38154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85" t="-4684" r="-2880" b="-2527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96450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7181" y="-4712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60"/>
                </a:lnSpc>
              </a:pPr>
              <a:r>
                <a:rPr lang="en-US" sz="5300" b="true">
                  <a:solidFill>
                    <a:srgbClr val="004A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515497" y="9739312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68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9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8750" y="218658"/>
            <a:ext cx="1814393" cy="1182928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ogyaX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50248" y="272203"/>
            <a:ext cx="2804903" cy="1324422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7490530" y="1855051"/>
            <a:ext cx="10292166" cy="6861444"/>
          </a:xfrm>
          <a:custGeom>
            <a:avLst/>
            <a:gdLst/>
            <a:ahLst/>
            <a:cxnLst/>
            <a:rect r="r" b="b" t="t" l="l"/>
            <a:pathLst>
              <a:path h="6861444" w="10292166">
                <a:moveTo>
                  <a:pt x="0" y="0"/>
                </a:moveTo>
                <a:lnTo>
                  <a:pt x="10292167" y="0"/>
                </a:lnTo>
                <a:lnTo>
                  <a:pt x="10292167" y="6861444"/>
                </a:lnTo>
                <a:lnTo>
                  <a:pt x="0" y="6861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79905" y="1785070"/>
            <a:ext cx="6098675" cy="7001406"/>
            <a:chOff x="0" y="0"/>
            <a:chExt cx="8131567" cy="933520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131567" cy="9335208"/>
              <a:chOff x="0" y="0"/>
              <a:chExt cx="1478342" cy="169716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78342" cy="1697167"/>
              </a:xfrm>
              <a:custGeom>
                <a:avLst/>
                <a:gdLst/>
                <a:ahLst/>
                <a:cxnLst/>
                <a:rect r="r" b="b" t="t" l="l"/>
                <a:pathLst>
                  <a:path h="1697167" w="1478342">
                    <a:moveTo>
                      <a:pt x="0" y="0"/>
                    </a:moveTo>
                    <a:lnTo>
                      <a:pt x="1478342" y="0"/>
                    </a:lnTo>
                    <a:lnTo>
                      <a:pt x="1478342" y="1697167"/>
                    </a:lnTo>
                    <a:lnTo>
                      <a:pt x="0" y="1697167"/>
                    </a:lnTo>
                    <a:close/>
                  </a:path>
                </a:pathLst>
              </a:custGeom>
              <a:ln w="47625" cap="sq">
                <a:solidFill>
                  <a:srgbClr val="1CABB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1478342" cy="17162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9700" y="983949"/>
              <a:ext cx="7560309" cy="8147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3"/>
                </a:lnSpc>
              </a:pPr>
            </a:p>
            <a:p>
              <a:pPr algn="l" marL="420055" indent="-210028" lvl="1">
                <a:lnSpc>
                  <a:spcPts val="2723"/>
                </a:lnSpc>
                <a:buFont typeface="Arial"/>
                <a:buChar char="•"/>
              </a:pPr>
              <a:r>
                <a:rPr lang="en-US" b="true" sz="194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Better Rural Access</a:t>
              </a:r>
              <a:r>
                <a:rPr lang="en-US" sz="19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– Connects</a:t>
              </a:r>
              <a:r>
                <a:rPr lang="en-US" b="true" sz="1945">
                  <a:solidFill>
                    <a:srgbClr val="004A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patients, ASHA workers, doctors &amp; hospitals.</a:t>
              </a:r>
            </a:p>
            <a:p>
              <a:pPr algn="l" marL="420055" indent="-210028" lvl="1">
                <a:lnSpc>
                  <a:spcPts val="2723"/>
                </a:lnSpc>
                <a:buFont typeface="Arial"/>
                <a:buChar char="•"/>
              </a:pPr>
              <a:r>
                <a:rPr lang="en-US" b="true" sz="194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Faster Healthcare</a:t>
              </a:r>
              <a:r>
                <a:rPr lang="en-US" sz="19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– Reduces travel, waiting time &amp; delays through </a:t>
              </a:r>
              <a:r>
                <a:rPr lang="en-US" b="true" sz="1945">
                  <a:solidFill>
                    <a:srgbClr val="004A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teleconsultation</a:t>
              </a:r>
              <a:r>
                <a:rPr lang="en-US" sz="19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and </a:t>
              </a:r>
              <a:r>
                <a:rPr lang="en-US" b="true" sz="1945">
                  <a:solidFill>
                    <a:srgbClr val="004A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appointments</a:t>
              </a:r>
              <a:r>
                <a:rPr lang="en-US" sz="19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algn="l" marL="420055" indent="-210028" lvl="1">
                <a:lnSpc>
                  <a:spcPts val="2723"/>
                </a:lnSpc>
                <a:buFont typeface="Arial"/>
                <a:buChar char="•"/>
              </a:pPr>
              <a:r>
                <a:rPr lang="en-US" b="true" sz="194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Connected Patient Care</a:t>
              </a:r>
              <a:r>
                <a:rPr lang="en-US" sz="19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– Enables easy sharing of </a:t>
              </a:r>
              <a:r>
                <a:rPr lang="en-US" b="true" sz="1945">
                  <a:solidFill>
                    <a:srgbClr val="004A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records, prescriptions &amp; referrals</a:t>
              </a:r>
              <a:r>
                <a:rPr lang="en-US" sz="19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algn="l" marL="420055" indent="-210028" lvl="1">
                <a:lnSpc>
                  <a:spcPts val="2723"/>
                </a:lnSpc>
                <a:buFont typeface="Arial"/>
                <a:buChar char="•"/>
              </a:pPr>
              <a:r>
                <a:rPr lang="en-US" b="true" sz="194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Quick Emergency Support</a:t>
              </a:r>
              <a:r>
                <a:rPr lang="en-US" sz="19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– Helps patients get faster assistance during emergencies.</a:t>
              </a:r>
            </a:p>
            <a:p>
              <a:pPr algn="l" marL="420055" indent="-210028" lvl="1">
                <a:lnSpc>
                  <a:spcPts val="2723"/>
                </a:lnSpc>
                <a:buFont typeface="Arial"/>
                <a:buChar char="•"/>
              </a:pPr>
              <a:r>
                <a:rPr lang="en-US" b="true" sz="194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Empowered ASHA Workers</a:t>
              </a:r>
              <a:r>
                <a:rPr lang="en-US" sz="19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– Gives ASHA workers better tools to support and monitor patients.</a:t>
              </a:r>
            </a:p>
            <a:p>
              <a:pPr algn="l" marL="420055" indent="-210028" lvl="1">
                <a:lnSpc>
                  <a:spcPts val="2723"/>
                </a:lnSpc>
                <a:buFont typeface="Arial"/>
                <a:buChar char="•"/>
              </a:pPr>
              <a:r>
                <a:rPr lang="en-US" b="true" sz="194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Inclusive &amp; Smarter Healthcare</a:t>
              </a:r>
              <a:r>
                <a:rPr lang="en-US" sz="19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– </a:t>
              </a:r>
              <a:r>
                <a:rPr lang="en-US" b="true" sz="1945">
                  <a:solidFill>
                    <a:srgbClr val="004A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Multilingual support</a:t>
              </a:r>
              <a:r>
                <a:rPr lang="en-US" sz="19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and </a:t>
              </a:r>
              <a:r>
                <a:rPr lang="en-US" b="true" sz="1945">
                  <a:solidFill>
                    <a:srgbClr val="004A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health heatmaps</a:t>
              </a:r>
              <a:r>
                <a:rPr lang="en-US" sz="19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improve accessibility and identify local health trends.</a:t>
              </a:r>
            </a:p>
            <a:p>
              <a:pPr algn="l">
                <a:lnSpc>
                  <a:spcPts val="2723"/>
                </a:lnSpc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38032" y="338888"/>
              <a:ext cx="7645678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0"/>
                </a:lnSpc>
                <a:spcBef>
                  <a:spcPct val="0"/>
                </a:spcBef>
              </a:pPr>
              <a:r>
                <a:rPr lang="en-US" b="true" sz="236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Potential Impact on the Target Audience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46" y="9739312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56272" y="9729788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59"/>
                </a:lnSpc>
              </a:pPr>
              <a:r>
                <a:rPr lang="en-US" b="true" sz="2299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9310" y="226254"/>
            <a:ext cx="1716519" cy="1119117"/>
            <a:chOff x="0" y="0"/>
            <a:chExt cx="2554516" cy="1665465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ArogyaX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74943" y="93187"/>
            <a:ext cx="2798788" cy="132153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0"/>
            <a:ext cx="16459200" cy="1714500"/>
            <a:chOff x="0" y="0"/>
            <a:chExt cx="219456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94560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004A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RESEARCH AND REFRENCES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030634"/>
            <a:ext cx="5184011" cy="6920214"/>
            <a:chOff x="0" y="0"/>
            <a:chExt cx="1365336" cy="18226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5336" cy="1822608"/>
            </a:xfrm>
            <a:custGeom>
              <a:avLst/>
              <a:gdLst/>
              <a:ahLst/>
              <a:cxnLst/>
              <a:rect r="r" b="b" t="t" l="l"/>
              <a:pathLst>
                <a:path h="1822608" w="1365336">
                  <a:moveTo>
                    <a:pt x="0" y="0"/>
                  </a:moveTo>
                  <a:lnTo>
                    <a:pt x="1365336" y="0"/>
                  </a:lnTo>
                  <a:lnTo>
                    <a:pt x="1365336" y="1822608"/>
                  </a:lnTo>
                  <a:lnTo>
                    <a:pt x="0" y="1822608"/>
                  </a:lnTo>
                  <a:close/>
                </a:path>
              </a:pathLst>
            </a:custGeom>
            <a:ln w="47625" cap="sq">
              <a:solidFill>
                <a:srgbClr val="FC922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365336" cy="1841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83196" y="2030634"/>
            <a:ext cx="5184011" cy="6920214"/>
            <a:chOff x="0" y="0"/>
            <a:chExt cx="1365336" cy="18226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65336" cy="1822608"/>
            </a:xfrm>
            <a:custGeom>
              <a:avLst/>
              <a:gdLst/>
              <a:ahLst/>
              <a:cxnLst/>
              <a:rect r="r" b="b" t="t" l="l"/>
              <a:pathLst>
                <a:path h="1822608" w="1365336">
                  <a:moveTo>
                    <a:pt x="0" y="0"/>
                  </a:moveTo>
                  <a:lnTo>
                    <a:pt x="1365336" y="0"/>
                  </a:lnTo>
                  <a:lnTo>
                    <a:pt x="1365336" y="1822608"/>
                  </a:lnTo>
                  <a:lnTo>
                    <a:pt x="0" y="1822608"/>
                  </a:lnTo>
                  <a:close/>
                </a:path>
              </a:pathLst>
            </a:custGeom>
            <a:ln w="47625" cap="sq">
              <a:solidFill>
                <a:srgbClr val="138E44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65336" cy="1841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33933" y="2030634"/>
            <a:ext cx="5244515" cy="6920214"/>
            <a:chOff x="0" y="0"/>
            <a:chExt cx="1381271" cy="18226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81271" cy="1822608"/>
            </a:xfrm>
            <a:custGeom>
              <a:avLst/>
              <a:gdLst/>
              <a:ahLst/>
              <a:cxnLst/>
              <a:rect r="r" b="b" t="t" l="l"/>
              <a:pathLst>
                <a:path h="1822608" w="1381271">
                  <a:moveTo>
                    <a:pt x="0" y="0"/>
                  </a:moveTo>
                  <a:lnTo>
                    <a:pt x="1381271" y="0"/>
                  </a:lnTo>
                  <a:lnTo>
                    <a:pt x="1381271" y="1822608"/>
                  </a:lnTo>
                  <a:lnTo>
                    <a:pt x="0" y="1822608"/>
                  </a:lnTo>
                  <a:close/>
                </a:path>
              </a:pathLst>
            </a:custGeom>
            <a:ln w="47625" cap="sq">
              <a:solidFill>
                <a:srgbClr val="0097B2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381271" cy="1841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14641" y="2414865"/>
            <a:ext cx="4828246" cy="147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3"/>
              </a:lnSpc>
            </a:pPr>
            <a:r>
              <a:rPr lang="en-US" sz="279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279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ational Health Frameworks</a:t>
            </a:r>
          </a:p>
          <a:p>
            <a:pPr algn="ctr">
              <a:lnSpc>
                <a:spcPts val="3913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55006" y="3858339"/>
            <a:ext cx="5131400" cy="410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u="sng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abdm.gov.in"/>
              </a:rPr>
              <a:t>Ayushman Bharat Digital Mission (ABDM)</a:t>
            </a:r>
            <a:r>
              <a:rPr lang="en-US" sz="19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 ↳ 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Foundation for our Offline Health Card &amp; QR Identity.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u="sng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  <a:hlinkClick r:id="rId6" tooltip="https://nhm.gov.in/index1.php?lang=1&amp;level=1&amp;sublinkid=150&amp;lid=226"/>
              </a:rPr>
              <a:t>NHM ASHA Guidelines</a:t>
            </a:r>
            <a:r>
              <a:rPr lang="en-US" sz="19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 ↳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Digitized proxy-care and household visit workflows.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u="sng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idsp.mohfw.gov.in"/>
              </a:rPr>
              <a:t>IDSP Surveillance Protocols</a:t>
            </a:r>
            <a:r>
              <a:rPr lang="en-US" sz="19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 ↳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GIS-based heatmaps for village-level outbreak detection.</a:t>
            </a:r>
          </a:p>
          <a:p>
            <a:pPr algn="l">
              <a:lnSpc>
                <a:spcPts val="279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846548" y="2414865"/>
            <a:ext cx="4828246" cy="97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3"/>
              </a:lnSpc>
            </a:pPr>
            <a:r>
              <a:rPr lang="en-US" sz="279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</a:t>
            </a:r>
            <a:r>
              <a:rPr lang="en-US" b="true" sz="279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inical &amp; Field Research</a:t>
            </a:r>
          </a:p>
          <a:p>
            <a:pPr algn="ctr">
              <a:lnSpc>
                <a:spcPts val="3913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6719046" y="3603808"/>
            <a:ext cx="5064200" cy="457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19" indent="-215910" lvl="1">
              <a:lnSpc>
                <a:spcPts val="2800"/>
              </a:lnSpc>
              <a:buFont typeface="Arial"/>
              <a:buChar char="•"/>
            </a:pPr>
            <a:r>
              <a:rPr lang="en-US" sz="2000" u="sng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esanjeevani.mohfw.gov.in"/>
              </a:rPr>
              <a:t>eSanjeevani Telemedicine Framework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↳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Graceful degradation to 2G audio/UI for low-bandwidth rural consults.</a:t>
            </a:r>
          </a:p>
          <a:p>
            <a:pPr algn="l">
              <a:lnSpc>
                <a:spcPts val="2800"/>
              </a:lnSpc>
            </a:pPr>
          </a:p>
          <a:p>
            <a:pPr algn="l" marL="431819" indent="-215910" lvl="1">
              <a:lnSpc>
                <a:spcPts val="2800"/>
              </a:lnSpc>
              <a:buFont typeface="Arial"/>
              <a:buChar char="•"/>
            </a:pPr>
            <a:r>
              <a:rPr lang="en-US" sz="2000" u="sng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www.who.int/publications/i/item/9789241549790"/>
              </a:rPr>
              <a:t>WHO mhGAP Intervention Guide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↳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Adapted low-literacy, icon-driven mental wellness screening.</a:t>
            </a:r>
          </a:p>
          <a:p>
            <a:pPr algn="l">
              <a:lnSpc>
                <a:spcPts val="2800"/>
              </a:lnSpc>
            </a:pPr>
          </a:p>
          <a:p>
            <a:pPr algn="l" marL="431819" indent="-215910" lvl="1">
              <a:lnSpc>
                <a:spcPts val="2800"/>
              </a:lnSpc>
              <a:buFont typeface="Arial"/>
              <a:buChar char="•"/>
            </a:pPr>
            <a:r>
              <a:rPr lang="en-US" sz="2000" u="sng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  <a:hlinkClick r:id="rId10" tooltip="https://www.who.int/health-topics/digital-health"/>
              </a:rPr>
              <a:t>WHO Digital Health (mHealth)</a:t>
            </a:r>
            <a:r>
              <a:rPr lang="en-US" sz="2000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 ↳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SMS-fallback architectures for last-mile emergency SOS.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581562" y="2414865"/>
            <a:ext cx="4828246" cy="196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3"/>
              </a:lnSpc>
            </a:pPr>
            <a:r>
              <a:rPr lang="en-US" sz="279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</a:t>
            </a:r>
            <a:r>
              <a:rPr lang="en-US" b="true" sz="279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tem Architecture &amp; Algorithms</a:t>
            </a:r>
          </a:p>
          <a:p>
            <a:pPr algn="ctr">
              <a:lnSpc>
                <a:spcPts val="3913"/>
              </a:lnSpc>
            </a:pPr>
          </a:p>
          <a:p>
            <a:pPr algn="ctr">
              <a:lnSpc>
                <a:spcPts val="391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429183" y="3861666"/>
            <a:ext cx="4992042" cy="44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u="sng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  <a:hlinkClick r:id="rId11" tooltip="https://dataintensive.net"/>
              </a:rPr>
              <a:t>Designing Data-Intensive Applications (Kleppmann)</a:t>
            </a:r>
            <a:r>
              <a:rPr lang="en-US" sz="2000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 ↳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Transactional outbox pattern for our offline-first background sync.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u="sng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  <a:hlinkClick r:id="rId12" tooltip="https://en.wikipedia.org/wiki/M/M/1_queue"/>
              </a:rPr>
              <a:t>M/M/1 Queueing Theory</a:t>
            </a:r>
            <a:r>
              <a:rPr lang="en-US" sz="2000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↳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Mathematical foundation for our dynamic OPD wait-time (ETA) engine.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u="sng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  <a:hlinkClick r:id="rId13" tooltip="https://developers.google.com/ml-kit/vision/text-recognition/v2"/>
              </a:rPr>
              <a:t>Google ML Kit Vision v2</a:t>
            </a:r>
            <a:r>
              <a:rPr lang="en-US" sz="2000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 ↳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On-device OCR heuristic modeling for digitizing handwritten prescriptions.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DAHT4BATiXw</dc:identifier>
  <dcterms:modified xsi:type="dcterms:W3CDTF">2011-08-01T06:04:30Z</dcterms:modified>
  <cp:revision>1</cp:revision>
  <dc:title>SIH2026-Level2.pptx</dc:title>
</cp:coreProperties>
</file>