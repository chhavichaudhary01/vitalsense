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15138691" y="653474"/>
            <a:ext cx="2264101" cy="1069065"/>
            <a:chOff x="0" y="0"/>
            <a:chExt cx="4499699" cy="2124672"/>
          </a:xfrm>
        </p:grpSpPr>
        <p:sp>
          <p:nvSpPr>
            <p:cNvPr id="15" name="Freeform 15"/>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2"/>
              <a:stretch>
                <a:fillRect b="1"/>
              </a:stretch>
            </a:blipFill>
          </p:spPr>
          <p:txBody>
            <a:bodyPr/>
            <a:lstStyle/>
            <a:p>
              <a:endParaRPr/>
            </a:p>
          </p:txBody>
        </p:sp>
      </p:grpSp>
      <p:sp>
        <p:nvSpPr>
          <p:cNvPr id="16" name="Rectangle 15"/>
          <p:cNvSpPr/>
          <p:nvPr/>
        </p:nvSpPr>
        <p:spPr>
          <a:xfrm>
            <a:off x="635000" y="508000"/>
            <a:ext cx="17018000" cy="9271000"/>
          </a:xfrm>
          <a:prstGeom prst="rect">
            <a:avLst/>
          </a:prstGeom>
          <a:solidFill>
            <a:srgbClr val="FFFFFF"/>
          </a:solidFill>
          <a:ln w="190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16000" y="825500"/>
            <a:ext cx="13335000" cy="508000"/>
          </a:xfrm>
          <a:prstGeom prst="rect">
            <a:avLst/>
          </a:prstGeom>
          <a:noFill/>
        </p:spPr>
        <p:txBody>
          <a:bodyPr wrap="none">
            <a:spAutoFit/>
          </a:bodyPr>
          <a:lstStyle/>
          <a:p>
            <a:pPr algn="l">
              <a:spcAft>
                <a:spcPts val="200"/>
              </a:spcAft>
            </a:pPr>
            <a:r>
              <a:rPr sz="2800" b="1" i="0">
                <a:solidFill>
                  <a:srgbClr val="1A365D"/>
                </a:solidFill>
                <a:latin typeface="Times New Roman"/>
              </a:rPr>
              <a:t>SMART INDIA HACKATHON 2026</a:t>
            </a:r>
          </a:p>
        </p:txBody>
      </p:sp>
      <p:sp>
        <p:nvSpPr>
          <p:cNvPr id="18" name="TextBox 17"/>
          <p:cNvSpPr txBox="1"/>
          <p:nvPr/>
        </p:nvSpPr>
        <p:spPr>
          <a:xfrm>
            <a:off x="1016000" y="1422400"/>
            <a:ext cx="13335000" cy="355600"/>
          </a:xfrm>
          <a:prstGeom prst="rect">
            <a:avLst/>
          </a:prstGeom>
          <a:noFill/>
        </p:spPr>
        <p:txBody>
          <a:bodyPr wrap="none">
            <a:spAutoFit/>
          </a:bodyPr>
          <a:lstStyle/>
          <a:p>
            <a:pPr algn="l">
              <a:spcAft>
                <a:spcPts val="200"/>
              </a:spcAft>
            </a:pPr>
            <a:r>
              <a:rPr sz="1300" b="1" i="0">
                <a:solidFill>
                  <a:srgbClr val="2B6CB0"/>
                </a:solidFill>
                <a:latin typeface="Times New Roman"/>
              </a:rPr>
              <a:t>National Level Grand Finale  |  Software Edition  |  Theme: MedTech / BioTech / HealthTech</a:t>
            </a:r>
          </a:p>
        </p:txBody>
      </p:sp>
      <p:sp>
        <p:nvSpPr>
          <p:cNvPr id="19" name="Rectangle 18"/>
          <p:cNvSpPr/>
          <p:nvPr/>
        </p:nvSpPr>
        <p:spPr>
          <a:xfrm>
            <a:off x="1016000" y="1841500"/>
            <a:ext cx="16256000" cy="254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6000" y="2032000"/>
            <a:ext cx="16256000" cy="1079500"/>
          </a:xfrm>
          <a:prstGeom prst="rect">
            <a:avLst/>
          </a:prstGeom>
          <a:noFill/>
        </p:spPr>
        <p:txBody>
          <a:bodyPr wrap="square">
            <a:spAutoFit/>
          </a:bodyPr>
          <a:lstStyle/>
          <a:p>
            <a:pPr algn="l">
              <a:spcAft>
                <a:spcPts val="300"/>
              </a:spcAft>
            </a:pPr>
            <a:r>
              <a:rPr sz="3600" b="1" i="0" dirty="0" err="1">
                <a:solidFill>
                  <a:srgbClr val="1A365D"/>
                </a:solidFill>
                <a:latin typeface="Times New Roman"/>
              </a:rPr>
              <a:t>VitalSense</a:t>
            </a:r>
            <a:endParaRPr sz="3600" b="1" i="0" dirty="0">
              <a:solidFill>
                <a:srgbClr val="1A365D"/>
              </a:solidFill>
              <a:latin typeface="Times New Roman"/>
            </a:endParaRPr>
          </a:p>
          <a:p>
            <a:pPr algn="l">
              <a:spcAft>
                <a:spcPts val="200"/>
              </a:spcAft>
            </a:pPr>
            <a:r>
              <a:rPr sz="1500" b="0" i="1" dirty="0">
                <a:solidFill>
                  <a:srgbClr val="2D3748"/>
                </a:solidFill>
                <a:latin typeface="Times New Roman"/>
              </a:rPr>
              <a:t>A Connected, Offline-First Public Healthcare Platform for Rural &amp; Underserved Communities</a:t>
            </a:r>
          </a:p>
        </p:txBody>
      </p:sp>
      <p:sp>
        <p:nvSpPr>
          <p:cNvPr id="21" name="Rectangle 20"/>
          <p:cNvSpPr/>
          <p:nvPr/>
        </p:nvSpPr>
        <p:spPr>
          <a:xfrm>
            <a:off x="1016000" y="3365500"/>
            <a:ext cx="16065500" cy="36195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06500" y="3492500"/>
            <a:ext cx="7196265" cy="523220"/>
          </a:xfrm>
          <a:prstGeom prst="rect">
            <a:avLst/>
          </a:prstGeom>
          <a:noFill/>
        </p:spPr>
        <p:txBody>
          <a:bodyPr wrap="none">
            <a:spAutoFit/>
          </a:bodyPr>
          <a:lstStyle/>
          <a:p>
            <a:pPr algn="l">
              <a:spcAft>
                <a:spcPts val="200"/>
              </a:spcAft>
            </a:pPr>
            <a:r>
              <a:rPr lang="en-IN" sz="2800" b="1" i="0" dirty="0">
                <a:solidFill>
                  <a:srgbClr val="1A365D"/>
                </a:solidFill>
                <a:latin typeface="Times New Roman"/>
              </a:rPr>
              <a:t>PROBLEM STATEMENT SPECIFICATION</a:t>
            </a:r>
            <a:endParaRPr sz="2800" b="1" i="0" dirty="0">
              <a:solidFill>
                <a:srgbClr val="1A365D"/>
              </a:solidFill>
              <a:latin typeface="Times New Roman"/>
            </a:endParaRPr>
          </a:p>
        </p:txBody>
      </p:sp>
      <p:sp>
        <p:nvSpPr>
          <p:cNvPr id="23" name="TextBox 22"/>
          <p:cNvSpPr txBox="1"/>
          <p:nvPr/>
        </p:nvSpPr>
        <p:spPr>
          <a:xfrm>
            <a:off x="1206500" y="3937000"/>
            <a:ext cx="12585700" cy="2985433"/>
          </a:xfrm>
          <a:prstGeom prst="rect">
            <a:avLst/>
          </a:prstGeom>
          <a:noFill/>
        </p:spPr>
        <p:txBody>
          <a:bodyPr wrap="square">
            <a:spAutoFit/>
          </a:bodyPr>
          <a:lstStyle/>
          <a:p>
            <a:pPr>
              <a:spcAft>
                <a:spcPts val="600"/>
              </a:spcAft>
            </a:pPr>
            <a:r>
              <a:rPr sz="2400" b="1" i="0" dirty="0">
                <a:solidFill>
                  <a:srgbClr val="1A365D"/>
                </a:solidFill>
                <a:latin typeface="Times New Roman"/>
              </a:rPr>
              <a:t>Problem Statement ID: </a:t>
            </a:r>
            <a:r>
              <a:rPr sz="2400" b="0" i="0" dirty="0">
                <a:solidFill>
                  <a:srgbClr val="2D3748"/>
                </a:solidFill>
                <a:latin typeface="Times New Roman"/>
              </a:rPr>
              <a:t>SIH26133</a:t>
            </a:r>
          </a:p>
          <a:p>
            <a:pPr>
              <a:spcAft>
                <a:spcPts val="600"/>
              </a:spcAft>
            </a:pPr>
            <a:r>
              <a:rPr sz="2400" b="1" i="0" dirty="0">
                <a:solidFill>
                  <a:srgbClr val="1A365D"/>
                </a:solidFill>
                <a:latin typeface="Times New Roman"/>
              </a:rPr>
              <a:t>Problem Statement Title: </a:t>
            </a:r>
            <a:r>
              <a:rPr sz="2400" b="0" i="0" dirty="0">
                <a:solidFill>
                  <a:srgbClr val="2D3748"/>
                </a:solidFill>
                <a:latin typeface="Times New Roman"/>
              </a:rPr>
              <a:t>Accessibility and quality of public healthcare services, particularly in rural and underserved areas</a:t>
            </a:r>
          </a:p>
          <a:p>
            <a:pPr>
              <a:spcAft>
                <a:spcPts val="600"/>
              </a:spcAft>
            </a:pPr>
            <a:r>
              <a:rPr sz="2400" b="1" i="0" dirty="0">
                <a:solidFill>
                  <a:srgbClr val="1A365D"/>
                </a:solidFill>
                <a:latin typeface="Times New Roman"/>
              </a:rPr>
              <a:t>Target </a:t>
            </a:r>
            <a:r>
              <a:rPr sz="2400" b="1" i="0" dirty="0" err="1">
                <a:solidFill>
                  <a:srgbClr val="1A365D"/>
                </a:solidFill>
                <a:latin typeface="Times New Roman"/>
              </a:rPr>
              <a:t>Organisation</a:t>
            </a:r>
            <a:r>
              <a:rPr sz="2400" b="1" i="0" dirty="0">
                <a:solidFill>
                  <a:srgbClr val="1A365D"/>
                </a:solidFill>
                <a:latin typeface="Times New Roman"/>
              </a:rPr>
              <a:t>: </a:t>
            </a:r>
            <a:r>
              <a:rPr sz="2400" b="0" i="0" dirty="0">
                <a:solidFill>
                  <a:srgbClr val="2D3748"/>
                </a:solidFill>
                <a:latin typeface="Times New Roman"/>
              </a:rPr>
              <a:t>Government of Maharashtra (Public Health Department)</a:t>
            </a:r>
          </a:p>
          <a:p>
            <a:pPr>
              <a:spcAft>
                <a:spcPts val="600"/>
              </a:spcAft>
            </a:pPr>
            <a:r>
              <a:rPr sz="2400" b="1" i="0" dirty="0">
                <a:solidFill>
                  <a:srgbClr val="1A365D"/>
                </a:solidFill>
                <a:latin typeface="Times New Roman"/>
              </a:rPr>
              <a:t>Domain / Theme: </a:t>
            </a:r>
            <a:r>
              <a:rPr sz="2400" b="0" i="0" dirty="0">
                <a:solidFill>
                  <a:srgbClr val="2D3748"/>
                </a:solidFill>
                <a:latin typeface="Times New Roman"/>
              </a:rPr>
              <a:t>MedTech / </a:t>
            </a:r>
            <a:r>
              <a:rPr sz="2400" b="0" i="0" dirty="0" err="1">
                <a:solidFill>
                  <a:srgbClr val="2D3748"/>
                </a:solidFill>
                <a:latin typeface="Times New Roman"/>
              </a:rPr>
              <a:t>BioTech</a:t>
            </a:r>
            <a:r>
              <a:rPr sz="2400" b="0" i="0" dirty="0">
                <a:solidFill>
                  <a:srgbClr val="2D3748"/>
                </a:solidFill>
                <a:latin typeface="Times New Roman"/>
              </a:rPr>
              <a:t> / HealthTech</a:t>
            </a:r>
          </a:p>
          <a:p>
            <a:pPr>
              <a:spcAft>
                <a:spcPts val="600"/>
              </a:spcAft>
            </a:pPr>
            <a:r>
              <a:rPr sz="2400" b="1" i="0" dirty="0">
                <a:solidFill>
                  <a:srgbClr val="1A365D"/>
                </a:solidFill>
                <a:latin typeface="Times New Roman"/>
              </a:rPr>
              <a:t>Core Beneficiaries: </a:t>
            </a:r>
            <a:r>
              <a:rPr sz="2400" b="0" i="0" dirty="0">
                <a:solidFill>
                  <a:srgbClr val="2D3748"/>
                </a:solidFill>
                <a:latin typeface="Times New Roman"/>
              </a:rPr>
              <a:t>Rural Citizens, ASHA / Frontline Workers, PHC Medical Officers, and District Health Authorities</a:t>
            </a:r>
          </a:p>
        </p:txBody>
      </p:sp>
      <p:sp>
        <p:nvSpPr>
          <p:cNvPr id="27" name="Rectangle 26"/>
          <p:cNvSpPr/>
          <p:nvPr/>
        </p:nvSpPr>
        <p:spPr>
          <a:xfrm>
            <a:off x="1016000" y="7175500"/>
            <a:ext cx="16256000" cy="2286000"/>
          </a:xfrm>
          <a:prstGeom prst="rect">
            <a:avLst/>
          </a:prstGeom>
          <a:solidFill>
            <a:srgbClr val="FFFFFF"/>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06500" y="7264400"/>
            <a:ext cx="11349517" cy="523220"/>
          </a:xfrm>
          <a:prstGeom prst="rect">
            <a:avLst/>
          </a:prstGeom>
          <a:noFill/>
        </p:spPr>
        <p:txBody>
          <a:bodyPr wrap="none">
            <a:spAutoFit/>
          </a:bodyPr>
          <a:lstStyle/>
          <a:p>
            <a:pPr algn="l">
              <a:spcAft>
                <a:spcPts val="200"/>
              </a:spcAft>
            </a:pPr>
            <a:r>
              <a:rPr sz="2800" b="1" i="0" dirty="0">
                <a:solidFill>
                  <a:srgbClr val="1A365D"/>
                </a:solidFill>
                <a:latin typeface="Times New Roman"/>
              </a:rPr>
              <a:t>KEY ARCHITECTURAL HIGHLIGHTS &amp; ENGINEERING PILLARS</a:t>
            </a:r>
          </a:p>
        </p:txBody>
      </p:sp>
      <p:sp>
        <p:nvSpPr>
          <p:cNvPr id="29" name="TextBox 28"/>
          <p:cNvSpPr txBox="1"/>
          <p:nvPr/>
        </p:nvSpPr>
        <p:spPr>
          <a:xfrm>
            <a:off x="1206500" y="7905750"/>
            <a:ext cx="3746500" cy="1502976"/>
          </a:xfrm>
          <a:prstGeom prst="rect">
            <a:avLst/>
          </a:prstGeom>
          <a:noFill/>
        </p:spPr>
        <p:txBody>
          <a:bodyPr wrap="square">
            <a:spAutoFit/>
          </a:bodyPr>
          <a:lstStyle/>
          <a:p>
            <a:pPr algn="l">
              <a:spcAft>
                <a:spcPts val="200"/>
              </a:spcAft>
            </a:pPr>
            <a:r>
              <a:rPr sz="2000" b="1" i="0" dirty="0">
                <a:solidFill>
                  <a:srgbClr val="2B6CB0"/>
                </a:solidFill>
                <a:latin typeface="Times New Roman"/>
              </a:rPr>
              <a:t>Offline-First Continuity</a:t>
            </a:r>
          </a:p>
          <a:p>
            <a:pPr algn="l">
              <a:spcAft>
                <a:spcPts val="200"/>
              </a:spcAft>
            </a:pPr>
            <a:r>
              <a:rPr sz="1400" b="0" i="0" dirty="0">
                <a:solidFill>
                  <a:srgbClr val="2D3748"/>
                </a:solidFill>
                <a:latin typeface="Times New Roman"/>
              </a:rPr>
              <a:t>Built on local Room SQLite + Transactional Outbox pattern, enabling 100% functional continuity for patient intake, triage, and prescriptions during total rural network blackouts.</a:t>
            </a:r>
          </a:p>
        </p:txBody>
      </p:sp>
      <p:sp>
        <p:nvSpPr>
          <p:cNvPr id="30" name="TextBox 29"/>
          <p:cNvSpPr txBox="1"/>
          <p:nvPr/>
        </p:nvSpPr>
        <p:spPr>
          <a:xfrm>
            <a:off x="5207000" y="7925558"/>
            <a:ext cx="3746500" cy="1287532"/>
          </a:xfrm>
          <a:prstGeom prst="rect">
            <a:avLst/>
          </a:prstGeom>
          <a:noFill/>
        </p:spPr>
        <p:txBody>
          <a:bodyPr wrap="square">
            <a:spAutoFit/>
          </a:bodyPr>
          <a:lstStyle/>
          <a:p>
            <a:pPr algn="l">
              <a:spcAft>
                <a:spcPts val="200"/>
              </a:spcAft>
            </a:pPr>
            <a:r>
              <a:rPr sz="2000" b="1" i="0" dirty="0">
                <a:solidFill>
                  <a:srgbClr val="2B6CB0"/>
                </a:solidFill>
                <a:latin typeface="Times New Roman"/>
              </a:rPr>
              <a:t>ABDM &amp; ABHA Integration</a:t>
            </a:r>
          </a:p>
          <a:p>
            <a:pPr algn="l">
              <a:spcAft>
                <a:spcPts val="200"/>
              </a:spcAft>
            </a:pPr>
            <a:r>
              <a:rPr sz="1400" b="0" i="0" dirty="0">
                <a:solidFill>
                  <a:srgbClr val="2D3748"/>
                </a:solidFill>
                <a:latin typeface="Times New Roman"/>
              </a:rPr>
              <a:t>Adheres to National Health Authority (NHA) specifications for 14-digit ABHA creation, QR </a:t>
            </a:r>
            <a:r>
              <a:rPr sz="1400" b="0" i="0" dirty="0" err="1">
                <a:solidFill>
                  <a:srgbClr val="2D3748"/>
                </a:solidFill>
                <a:latin typeface="Times New Roman"/>
              </a:rPr>
              <a:t>tokenisation</a:t>
            </a:r>
            <a:r>
              <a:rPr sz="1400" b="0" i="0" dirty="0">
                <a:solidFill>
                  <a:srgbClr val="2D3748"/>
                </a:solidFill>
                <a:latin typeface="Times New Roman"/>
              </a:rPr>
              <a:t> (Scan &amp; Share), and longitudinal health record interoperability.</a:t>
            </a:r>
          </a:p>
        </p:txBody>
      </p:sp>
      <p:sp>
        <p:nvSpPr>
          <p:cNvPr id="31" name="TextBox 30"/>
          <p:cNvSpPr txBox="1"/>
          <p:nvPr/>
        </p:nvSpPr>
        <p:spPr>
          <a:xfrm>
            <a:off x="9207500" y="7937500"/>
            <a:ext cx="3746500" cy="1287532"/>
          </a:xfrm>
          <a:prstGeom prst="rect">
            <a:avLst/>
          </a:prstGeom>
          <a:noFill/>
        </p:spPr>
        <p:txBody>
          <a:bodyPr wrap="square">
            <a:spAutoFit/>
          </a:bodyPr>
          <a:lstStyle/>
          <a:p>
            <a:pPr algn="l">
              <a:spcAft>
                <a:spcPts val="200"/>
              </a:spcAft>
            </a:pPr>
            <a:r>
              <a:rPr lang="en-IN" sz="2000" b="1" i="0" dirty="0">
                <a:solidFill>
                  <a:srgbClr val="2B6CB0"/>
                </a:solidFill>
                <a:latin typeface="Times New Roman"/>
              </a:rPr>
              <a:t>On-Device AI Prescription OCR</a:t>
            </a:r>
            <a:endParaRPr sz="2000" b="1" i="0" dirty="0">
              <a:solidFill>
                <a:srgbClr val="2B6CB0"/>
              </a:solidFill>
              <a:latin typeface="Times New Roman"/>
            </a:endParaRPr>
          </a:p>
          <a:p>
            <a:pPr algn="l">
              <a:spcAft>
                <a:spcPts val="200"/>
              </a:spcAft>
            </a:pPr>
            <a:r>
              <a:rPr lang="en-US" sz="1400" b="0" i="0" dirty="0">
                <a:solidFill>
                  <a:srgbClr val="2D3748"/>
                </a:solidFill>
                <a:latin typeface="Times New Roman"/>
              </a:rPr>
              <a:t>Google ML Kit Vision v2 pipeline executes optical character recognition directly on-device without cloud latency or mobile data consumption, assisting record digitization.</a:t>
            </a:r>
            <a:endParaRPr sz="1400" b="0" i="0" dirty="0">
              <a:solidFill>
                <a:srgbClr val="2D3748"/>
              </a:solidFill>
              <a:latin typeface="Times New Roman"/>
            </a:endParaRPr>
          </a:p>
        </p:txBody>
      </p:sp>
      <p:sp>
        <p:nvSpPr>
          <p:cNvPr id="32" name="TextBox 31"/>
          <p:cNvSpPr txBox="1"/>
          <p:nvPr/>
        </p:nvSpPr>
        <p:spPr>
          <a:xfrm>
            <a:off x="13208000" y="7905750"/>
            <a:ext cx="3746500" cy="1595309"/>
          </a:xfrm>
          <a:prstGeom prst="rect">
            <a:avLst/>
          </a:prstGeom>
          <a:noFill/>
        </p:spPr>
        <p:txBody>
          <a:bodyPr wrap="square">
            <a:spAutoFit/>
          </a:bodyPr>
          <a:lstStyle/>
          <a:p>
            <a:pPr algn="l">
              <a:spcAft>
                <a:spcPts val="200"/>
              </a:spcAft>
            </a:pPr>
            <a:r>
              <a:rPr sz="2000" b="1" i="0" dirty="0">
                <a:solidFill>
                  <a:srgbClr val="2B6CB0"/>
                </a:solidFill>
                <a:latin typeface="Times New Roman"/>
              </a:rPr>
              <a:t>Adaptive Telehealth &amp; Dual SOS</a:t>
            </a:r>
          </a:p>
          <a:p>
            <a:pPr algn="l">
              <a:spcAft>
                <a:spcPts val="200"/>
              </a:spcAft>
            </a:pPr>
            <a:r>
              <a:rPr lang="en-US" sz="1400" b="0" i="0" dirty="0">
                <a:solidFill>
                  <a:srgbClr val="2D3748"/>
                </a:solidFill>
                <a:latin typeface="Times New Roman"/>
              </a:rPr>
              <a:t>WebRTC audio/video with dynamic bitrate scaling down to 32 kbps on 2G networks, paired with automated cellular SMS fallback for emergency ambulance dispatch.</a:t>
            </a:r>
            <a:endParaRPr sz="1400" b="0" i="0" dirty="0">
              <a:solidFill>
                <a:srgbClr val="2D3748"/>
              </a:solidFill>
              <a:latin typeface="Times New Roman"/>
            </a:endParaRPr>
          </a:p>
        </p:txBody>
      </p:sp>
      <p:pic>
        <p:nvPicPr>
          <p:cNvPr id="33" name="Picture 32" descr="image.png"/>
          <p:cNvPicPr>
            <a:picLocks noChangeAspect="1"/>
          </p:cNvPicPr>
          <p:nvPr/>
        </p:nvPicPr>
        <p:blipFill>
          <a:blip r:embed="rId2"/>
          <a:stretch>
            <a:fillRect/>
          </a:stretch>
        </p:blipFill>
        <p:spPr>
          <a:xfrm>
            <a:off x="14859000" y="698500"/>
            <a:ext cx="2413000" cy="11398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635728"/>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a:p>
          </p:txBody>
        </p:sp>
      </p:grpSp>
      <p:grpSp>
        <p:nvGrpSpPr>
          <p:cNvPr id="4" name="Group 4"/>
          <p:cNvGrpSpPr/>
          <p:nvPr/>
        </p:nvGrpSpPr>
        <p:grpSpPr>
          <a:xfrm>
            <a:off x="584294" y="-706909"/>
            <a:ext cx="16459200" cy="2083726"/>
            <a:chOff x="0" y="0"/>
            <a:chExt cx="21945600" cy="2778302"/>
          </a:xfrm>
        </p:grpSpPr>
        <p:sp>
          <p:nvSpPr>
            <p:cNvPr id="5" name="Freeform 5"/>
            <p:cNvSpPr/>
            <p:nvPr/>
          </p:nvSpPr>
          <p:spPr>
            <a:xfrm>
              <a:off x="0" y="0"/>
              <a:ext cx="21945600" cy="2778302"/>
            </a:xfrm>
            <a:custGeom>
              <a:avLst/>
              <a:gdLst/>
              <a:ahLst/>
              <a:cxnLst/>
              <a:rect l="l" t="t" r="r" b="b"/>
              <a:pathLst>
                <a:path w="21945600" h="2778302">
                  <a:moveTo>
                    <a:pt x="0" y="0"/>
                  </a:moveTo>
                  <a:lnTo>
                    <a:pt x="21945600" y="0"/>
                  </a:lnTo>
                  <a:lnTo>
                    <a:pt x="21945600" y="2778302"/>
                  </a:lnTo>
                  <a:lnTo>
                    <a:pt x="0" y="2778302"/>
                  </a:lnTo>
                  <a:close/>
                </a:path>
              </a:pathLst>
            </a:custGeom>
            <a:blipFill>
              <a:blip r:embed="rId3">
                <a:alphaModFix amt="0"/>
              </a:blip>
              <a:stretch>
                <a:fillRect t="-112770" b="-95051"/>
              </a:stretch>
            </a:blipFill>
          </p:spPr>
          <p:txBody>
            <a:bodyPr/>
            <a:lstStyle/>
            <a:p>
              <a:endParaRPr/>
            </a:p>
          </p:txBody>
        </p:sp>
        <p:sp>
          <p:nvSpPr>
            <p:cNvPr id="6" name="TextBox 6"/>
            <p:cNvSpPr txBox="1"/>
            <p:nvPr/>
          </p:nvSpPr>
          <p:spPr>
            <a:xfrm>
              <a:off x="0" y="0"/>
              <a:ext cx="21945600" cy="2778302"/>
            </a:xfrm>
            <a:prstGeom prst="rect">
              <a:avLst/>
            </a:prstGeom>
          </p:spPr>
          <p:txBody>
            <a:bodyPr lIns="0" tIns="0" rIns="0" bIns="0" rtlCol="0" anchor="ctr"/>
            <a:lstStyle/>
            <a:p>
              <a:pPr algn="ctr">
                <a:lnSpc>
                  <a:spcPts val="6959"/>
                </a:lnSpc>
              </a:pPr>
              <a:endParaRPr/>
            </a:p>
            <a:p>
              <a:pPr algn="ctr">
                <a:lnSpc>
                  <a:spcPts val="7799"/>
                </a:lnSpc>
              </a:pPr>
              <a:r>
                <a:rPr lang="en-US" sz="6499" b="1">
                  <a:solidFill>
                    <a:srgbClr val="004AAD"/>
                  </a:solidFill>
                  <a:latin typeface="Times New Roman"/>
                  <a:ea typeface="DM Sans Bold"/>
                  <a:cs typeface="DM Sans Bold"/>
                  <a:sym typeface="DM Sans Bold"/>
                </a:rPr>
                <a:t>VitalSense</a:t>
              </a:r>
            </a:p>
          </p:txBody>
        </p:sp>
      </p:grpSp>
      <p:grpSp>
        <p:nvGrpSpPr>
          <p:cNvPr id="7" name="Group 7"/>
          <p:cNvGrpSpPr/>
          <p:nvPr/>
        </p:nvGrpSpPr>
        <p:grpSpPr>
          <a:xfrm>
            <a:off x="13698364" y="9684123"/>
            <a:ext cx="4267200" cy="564777"/>
            <a:chOff x="0" y="0"/>
            <a:chExt cx="5689600" cy="753036"/>
          </a:xfrm>
        </p:grpSpPr>
        <p:sp>
          <p:nvSpPr>
            <p:cNvPr id="8" name="Freeform 8"/>
            <p:cNvSpPr/>
            <p:nvPr/>
          </p:nvSpPr>
          <p:spPr>
            <a:xfrm>
              <a:off x="0" y="0"/>
              <a:ext cx="5689600" cy="753036"/>
            </a:xfrm>
            <a:custGeom>
              <a:avLst/>
              <a:gdLst/>
              <a:ahLst/>
              <a:cxnLst/>
              <a:rect l="l" t="t" r="r" b="b"/>
              <a:pathLst>
                <a:path w="5689600" h="753036">
                  <a:moveTo>
                    <a:pt x="0" y="0"/>
                  </a:moveTo>
                  <a:lnTo>
                    <a:pt x="5689600" y="0"/>
                  </a:lnTo>
                  <a:lnTo>
                    <a:pt x="5689600" y="753036"/>
                  </a:lnTo>
                  <a:lnTo>
                    <a:pt x="0" y="753036"/>
                  </a:lnTo>
                  <a:close/>
                </a:path>
              </a:pathLst>
            </a:custGeom>
            <a:blipFill>
              <a:blip r:embed="rId3">
                <a:alphaModFix amt="0"/>
              </a:blip>
              <a:stretch>
                <a:fillRect t="-98733" b="-95707"/>
              </a:stretch>
            </a:blipFill>
          </p:spPr>
          <p:txBody>
            <a:bodyPr/>
            <a:lstStyle/>
            <a:p>
              <a:endParaRPr/>
            </a:p>
          </p:txBody>
        </p:sp>
        <p:sp>
          <p:nvSpPr>
            <p:cNvPr id="9" name="TextBox 9"/>
            <p:cNvSpPr txBox="1"/>
            <p:nvPr/>
          </p:nvSpPr>
          <p:spPr>
            <a:xfrm>
              <a:off x="0" y="-19050"/>
              <a:ext cx="5689600" cy="772086"/>
            </a:xfrm>
            <a:prstGeom prst="rect">
              <a:avLst/>
            </a:prstGeom>
          </p:spPr>
          <p:txBody>
            <a:bodyPr lIns="0" tIns="0" rIns="0" bIns="0" rtlCol="0" anchor="ctr"/>
            <a:lstStyle/>
            <a:p>
              <a:pPr algn="r">
                <a:lnSpc>
                  <a:spcPts val="3359"/>
                </a:lnSpc>
              </a:pPr>
              <a:r>
                <a:rPr lang="en-US" sz="2799" b="1">
                  <a:solidFill>
                    <a:srgbClr val="FFFFFF"/>
                  </a:solidFill>
                  <a:latin typeface="Times New Roman"/>
                  <a:ea typeface="Arimo Bold"/>
                  <a:cs typeface="Arimo Bold"/>
                  <a:sym typeface="Arimo Bold"/>
                </a:rPr>
                <a:t>2</a:t>
              </a:r>
            </a:p>
          </p:txBody>
        </p:sp>
      </p:grpSp>
      <p:grpSp>
        <p:nvGrpSpPr>
          <p:cNvPr id="10" name="Group 10"/>
          <p:cNvGrpSpPr/>
          <p:nvPr/>
        </p:nvGrpSpPr>
        <p:grpSpPr>
          <a:xfrm>
            <a:off x="584294" y="158527"/>
            <a:ext cx="1948849" cy="1270589"/>
            <a:chOff x="0" y="0"/>
            <a:chExt cx="2554516" cy="1665465"/>
          </a:xfrm>
        </p:grpSpPr>
        <p:sp>
          <p:nvSpPr>
            <p:cNvPr id="11" name="Freeform 11"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a:p>
          </p:txBody>
        </p:sp>
        <p:sp>
          <p:nvSpPr>
            <p:cNvPr id="12" name="TextBox 12"/>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700">
                  <a:solidFill>
                    <a:srgbClr val="000000"/>
                  </a:solidFill>
                  <a:latin typeface="Times New Roman"/>
                  <a:ea typeface="Calibri (MS)"/>
                  <a:cs typeface="Calibri (MS)"/>
                  <a:sym typeface="Calibri (MS)"/>
                </a:rPr>
                <a:t>ArogyaX</a:t>
              </a:r>
            </a:p>
          </p:txBody>
        </p:sp>
      </p:grpSp>
      <p:grpSp>
        <p:nvGrpSpPr>
          <p:cNvPr id="13" name="Group 13"/>
          <p:cNvGrpSpPr/>
          <p:nvPr/>
        </p:nvGrpSpPr>
        <p:grpSpPr>
          <a:xfrm>
            <a:off x="15347553" y="158527"/>
            <a:ext cx="2714617" cy="1281790"/>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a:p>
          </p:txBody>
        </p:sp>
      </p:grpSp>
      <p:sp>
        <p:nvSpPr>
          <p:cNvPr id="15" name="Rectangle 14"/>
          <p:cNvSpPr/>
          <p:nvPr/>
        </p:nvSpPr>
        <p:spPr>
          <a:xfrm>
            <a:off x="508000" y="1460500"/>
            <a:ext cx="7239000" cy="3810000"/>
          </a:xfrm>
          <a:prstGeom prst="rect">
            <a:avLst/>
          </a:prstGeom>
          <a:solidFill>
            <a:srgbClr val="FFFFFF"/>
          </a:solidFill>
          <a:ln w="19050">
            <a:solidFill>
              <a:srgbClr val="C056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8500" y="1524000"/>
            <a:ext cx="6878871" cy="461665"/>
          </a:xfrm>
          <a:prstGeom prst="rect">
            <a:avLst/>
          </a:prstGeom>
          <a:noFill/>
        </p:spPr>
        <p:txBody>
          <a:bodyPr wrap="none">
            <a:spAutoFit/>
          </a:bodyPr>
          <a:lstStyle/>
          <a:p>
            <a:pPr algn="l">
              <a:spcAft>
                <a:spcPts val="200"/>
              </a:spcAft>
            </a:pPr>
            <a:r>
              <a:rPr sz="2400" b="1" i="0" dirty="0">
                <a:solidFill>
                  <a:srgbClr val="C05621"/>
                </a:solidFill>
                <a:latin typeface="Times New Roman"/>
              </a:rPr>
              <a:t>The Problem: Rural Public Healthcare Bottlenecks</a:t>
            </a:r>
          </a:p>
        </p:txBody>
      </p:sp>
      <p:sp>
        <p:nvSpPr>
          <p:cNvPr id="17" name="TextBox 16"/>
          <p:cNvSpPr txBox="1"/>
          <p:nvPr/>
        </p:nvSpPr>
        <p:spPr>
          <a:xfrm>
            <a:off x="698500" y="2127250"/>
            <a:ext cx="6858000" cy="3085460"/>
          </a:xfrm>
          <a:prstGeom prst="rect">
            <a:avLst/>
          </a:prstGeom>
          <a:noFill/>
        </p:spPr>
        <p:txBody>
          <a:bodyPr wrap="square">
            <a:spAutoFit/>
          </a:bodyPr>
          <a:lstStyle/>
          <a:p>
            <a:pPr>
              <a:spcAft>
                <a:spcPts val="300"/>
              </a:spcAft>
            </a:pPr>
            <a:r>
              <a:rPr sz="1400" b="1" i="0" dirty="0">
                <a:solidFill>
                  <a:srgbClr val="1A365D"/>
                </a:solidFill>
                <a:latin typeface="Times New Roman"/>
              </a:rPr>
              <a:t>• Geographic &amp; Specialist Barriers: </a:t>
            </a:r>
            <a:r>
              <a:rPr sz="1400" b="0" i="0" dirty="0">
                <a:solidFill>
                  <a:srgbClr val="2D3748"/>
                </a:solidFill>
                <a:latin typeface="Times New Roman"/>
              </a:rPr>
              <a:t>Rural patients travel 30-70 km to access secondary facilities; acute shortage of specialist doctors at rural PHCs and CHCs.</a:t>
            </a:r>
          </a:p>
          <a:p>
            <a:pPr>
              <a:spcAft>
                <a:spcPts val="300"/>
              </a:spcAft>
            </a:pPr>
            <a:r>
              <a:rPr sz="1400" b="1" i="0" dirty="0">
                <a:solidFill>
                  <a:srgbClr val="1A365D"/>
                </a:solidFill>
                <a:latin typeface="Times New Roman"/>
              </a:rPr>
              <a:t>• Network &amp; Connectivity Fragility: </a:t>
            </a:r>
            <a:r>
              <a:rPr sz="1400" b="0" i="0" dirty="0">
                <a:solidFill>
                  <a:srgbClr val="2D3748"/>
                </a:solidFill>
                <a:latin typeface="Times New Roman"/>
              </a:rPr>
              <a:t>Frequent network blackouts and weak 2G signals render conventional cloud-dependent health apps completely unusable in the field.</a:t>
            </a:r>
          </a:p>
          <a:p>
            <a:pPr>
              <a:spcAft>
                <a:spcPts val="300"/>
              </a:spcAft>
            </a:pPr>
            <a:r>
              <a:rPr sz="1400" b="1" i="0" dirty="0">
                <a:solidFill>
                  <a:srgbClr val="1A365D"/>
                </a:solidFill>
                <a:latin typeface="Times New Roman"/>
              </a:rPr>
              <a:t>• Fragmented Medical Records: </a:t>
            </a:r>
            <a:r>
              <a:rPr sz="1400" b="0" i="0" dirty="0">
                <a:solidFill>
                  <a:srgbClr val="2D3748"/>
                </a:solidFill>
                <a:latin typeface="Times New Roman"/>
              </a:rPr>
              <a:t>Patient data is scattered across physical registers and paper slips, leading to lost medical histories, repeated diagnostics, and adverse errors.</a:t>
            </a:r>
          </a:p>
          <a:p>
            <a:pPr>
              <a:spcAft>
                <a:spcPts val="300"/>
              </a:spcAft>
            </a:pPr>
            <a:r>
              <a:rPr sz="1400" b="1" i="0" dirty="0">
                <a:solidFill>
                  <a:srgbClr val="1A365D"/>
                </a:solidFill>
                <a:latin typeface="Times New Roman"/>
              </a:rPr>
              <a:t>• Uncoordinated Referrals: </a:t>
            </a:r>
            <a:r>
              <a:rPr sz="1400" b="0" i="0" dirty="0">
                <a:solidFill>
                  <a:srgbClr val="2D3748"/>
                </a:solidFill>
                <a:latin typeface="Times New Roman"/>
              </a:rPr>
              <a:t>Paper-based referral slips lack digital tracking, resulting in lost-to-follow-up cases, emergency deterioration, and zero feedback to referring PHCs.</a:t>
            </a:r>
          </a:p>
          <a:p>
            <a:pPr>
              <a:spcAft>
                <a:spcPts val="300"/>
              </a:spcAft>
            </a:pPr>
            <a:r>
              <a:rPr sz="1400" b="1" i="0" dirty="0">
                <a:solidFill>
                  <a:srgbClr val="1A365D"/>
                </a:solidFill>
                <a:latin typeface="Times New Roman"/>
              </a:rPr>
              <a:t>• Overburdened Outpatient Registrations: </a:t>
            </a:r>
            <a:r>
              <a:rPr sz="1400" b="0" i="0" dirty="0">
                <a:solidFill>
                  <a:srgbClr val="2D3748"/>
                </a:solidFill>
                <a:latin typeface="Times New Roman"/>
              </a:rPr>
              <a:t>Manual OPD queues cause 60-90 minute waiting times, crowding health </a:t>
            </a:r>
            <a:r>
              <a:rPr sz="1400" b="0" i="0" dirty="0" err="1">
                <a:solidFill>
                  <a:srgbClr val="2D3748"/>
                </a:solidFill>
                <a:latin typeface="Times New Roman"/>
              </a:rPr>
              <a:t>centres</a:t>
            </a:r>
            <a:r>
              <a:rPr sz="1400" b="0" i="0" dirty="0">
                <a:solidFill>
                  <a:srgbClr val="2D3748"/>
                </a:solidFill>
                <a:latin typeface="Times New Roman"/>
              </a:rPr>
              <a:t> and resulting in lost daily wages for agricultural </a:t>
            </a:r>
            <a:r>
              <a:rPr sz="1400" b="0" i="0" dirty="0" err="1">
                <a:solidFill>
                  <a:srgbClr val="2D3748"/>
                </a:solidFill>
                <a:latin typeface="Times New Roman"/>
              </a:rPr>
              <a:t>labourers</a:t>
            </a:r>
            <a:r>
              <a:rPr sz="1400" b="0" i="0" dirty="0">
                <a:solidFill>
                  <a:srgbClr val="2D3748"/>
                </a:solidFill>
                <a:latin typeface="Times New Roman"/>
              </a:rPr>
              <a:t>.</a:t>
            </a:r>
          </a:p>
          <a:p>
            <a:pPr>
              <a:spcAft>
                <a:spcPts val="300"/>
              </a:spcAft>
            </a:pPr>
            <a:r>
              <a:rPr sz="1400" b="1" i="0" dirty="0">
                <a:solidFill>
                  <a:srgbClr val="1A365D"/>
                </a:solidFill>
                <a:latin typeface="Times New Roman"/>
              </a:rPr>
              <a:t>• Absence of Village-Level Surveillance: </a:t>
            </a:r>
            <a:r>
              <a:rPr sz="1400" b="0" i="0" dirty="0">
                <a:solidFill>
                  <a:srgbClr val="2D3748"/>
                </a:solidFill>
                <a:latin typeface="Times New Roman"/>
              </a:rPr>
              <a:t>Public health administrators lack real-time syndromic data, delaying timely identification and containment of rural disease outbreaks.</a:t>
            </a:r>
          </a:p>
        </p:txBody>
      </p:sp>
      <p:sp>
        <p:nvSpPr>
          <p:cNvPr id="18" name="Rectangle 17"/>
          <p:cNvSpPr/>
          <p:nvPr/>
        </p:nvSpPr>
        <p:spPr>
          <a:xfrm>
            <a:off x="508000" y="5397500"/>
            <a:ext cx="7239000" cy="4064000"/>
          </a:xfrm>
          <a:prstGeom prst="rect">
            <a:avLst/>
          </a:prstGeom>
          <a:solidFill>
            <a:srgbClr val="FFFFFF"/>
          </a:solidFill>
          <a:ln w="19050">
            <a:solidFill>
              <a:srgbClr val="2874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8500" y="5461000"/>
            <a:ext cx="6878871" cy="830997"/>
          </a:xfrm>
          <a:prstGeom prst="rect">
            <a:avLst/>
          </a:prstGeom>
          <a:noFill/>
        </p:spPr>
        <p:txBody>
          <a:bodyPr wrap="square">
            <a:spAutoFit/>
          </a:bodyPr>
          <a:lstStyle/>
          <a:p>
            <a:pPr algn="l">
              <a:spcAft>
                <a:spcPts val="200"/>
              </a:spcAft>
            </a:pPr>
            <a:r>
              <a:rPr sz="2400" b="1" i="0" dirty="0">
                <a:solidFill>
                  <a:srgbClr val="287465"/>
                </a:solidFill>
                <a:latin typeface="Times New Roman"/>
              </a:rPr>
              <a:t>Our Solution: The </a:t>
            </a:r>
            <a:r>
              <a:rPr sz="2400" b="1" i="0" dirty="0" err="1">
                <a:solidFill>
                  <a:srgbClr val="287465"/>
                </a:solidFill>
                <a:latin typeface="Times New Roman"/>
              </a:rPr>
              <a:t>VitalSense</a:t>
            </a:r>
            <a:r>
              <a:rPr sz="2400" b="1" i="0" dirty="0">
                <a:solidFill>
                  <a:srgbClr val="287465"/>
                </a:solidFill>
                <a:latin typeface="Times New Roman"/>
              </a:rPr>
              <a:t> Integrated Health Platform</a:t>
            </a:r>
          </a:p>
        </p:txBody>
      </p:sp>
      <p:sp>
        <p:nvSpPr>
          <p:cNvPr id="20" name="TextBox 19"/>
          <p:cNvSpPr txBox="1"/>
          <p:nvPr/>
        </p:nvSpPr>
        <p:spPr>
          <a:xfrm>
            <a:off x="698500" y="6340089"/>
            <a:ext cx="6858000" cy="3149580"/>
          </a:xfrm>
          <a:prstGeom prst="rect">
            <a:avLst/>
          </a:prstGeom>
          <a:noFill/>
        </p:spPr>
        <p:txBody>
          <a:bodyPr wrap="square">
            <a:spAutoFit/>
          </a:bodyPr>
          <a:lstStyle/>
          <a:p>
            <a:pPr>
              <a:spcAft>
                <a:spcPts val="350"/>
              </a:spcAft>
            </a:pPr>
            <a:r>
              <a:rPr sz="1400" b="1" i="0" dirty="0">
                <a:solidFill>
                  <a:srgbClr val="1A365D"/>
                </a:solidFill>
                <a:latin typeface="Times New Roman"/>
              </a:rPr>
              <a:t>• Unified Multi-Stakeholder Ecosystem: </a:t>
            </a:r>
            <a:r>
              <a:rPr sz="1400" b="0" i="0" dirty="0">
                <a:solidFill>
                  <a:srgbClr val="2D3748"/>
                </a:solidFill>
                <a:latin typeface="Times New Roman"/>
              </a:rPr>
              <a:t>Role-tailored native portals uniting Patients, ASHA workers, Medical Officers, Lab Technicians, and Health Administrators.</a:t>
            </a:r>
          </a:p>
          <a:p>
            <a:pPr>
              <a:spcAft>
                <a:spcPts val="350"/>
              </a:spcAft>
            </a:pPr>
            <a:r>
              <a:rPr sz="1400" b="1" i="0" dirty="0">
                <a:solidFill>
                  <a:srgbClr val="1A365D"/>
                </a:solidFill>
                <a:latin typeface="Times New Roman"/>
              </a:rPr>
              <a:t>• Resilient Offline-First Engine: </a:t>
            </a:r>
            <a:r>
              <a:rPr sz="1400" b="0" i="0" dirty="0">
                <a:solidFill>
                  <a:srgbClr val="2D3748"/>
                </a:solidFill>
                <a:latin typeface="Times New Roman"/>
              </a:rPr>
              <a:t>Local SQLite (Room) architecture with transactional outbox queue enables full clinical workflow continuity without active internet connectivity.</a:t>
            </a:r>
          </a:p>
          <a:p>
            <a:pPr>
              <a:spcAft>
                <a:spcPts val="350"/>
              </a:spcAft>
            </a:pPr>
            <a:r>
              <a:rPr sz="1400" b="1" i="0" dirty="0">
                <a:solidFill>
                  <a:srgbClr val="1A365D"/>
                </a:solidFill>
                <a:latin typeface="Times New Roman"/>
              </a:rPr>
              <a:t>• Longitudinal ABHA-Linked Records: </a:t>
            </a:r>
            <a:r>
              <a:rPr sz="1400" b="0" i="0" dirty="0">
                <a:solidFill>
                  <a:srgbClr val="2D3748"/>
                </a:solidFill>
                <a:latin typeface="Times New Roman"/>
              </a:rPr>
              <a:t>Interoperable digital records combining clinical encounters, e-prescriptions, diagnostic reports, and maternal/child </a:t>
            </a:r>
            <a:r>
              <a:rPr sz="1400" b="0" i="0" dirty="0" err="1">
                <a:solidFill>
                  <a:srgbClr val="2D3748"/>
                </a:solidFill>
                <a:latin typeface="Times New Roman"/>
              </a:rPr>
              <a:t>immunisation</a:t>
            </a:r>
            <a:r>
              <a:rPr sz="1400" b="0" i="0" dirty="0">
                <a:solidFill>
                  <a:srgbClr val="2D3748"/>
                </a:solidFill>
                <a:latin typeface="Times New Roman"/>
              </a:rPr>
              <a:t> histories.</a:t>
            </a:r>
          </a:p>
          <a:p>
            <a:pPr>
              <a:spcAft>
                <a:spcPts val="350"/>
              </a:spcAft>
            </a:pPr>
            <a:r>
              <a:rPr sz="1400" b="1" i="0" dirty="0">
                <a:solidFill>
                  <a:srgbClr val="1A365D"/>
                </a:solidFill>
                <a:latin typeface="Times New Roman"/>
              </a:rPr>
              <a:t>• Closed-Loop Referral Management: </a:t>
            </a:r>
            <a:r>
              <a:rPr sz="1400" b="0" i="0" dirty="0">
                <a:solidFill>
                  <a:srgbClr val="2D3748"/>
                </a:solidFill>
                <a:latin typeface="Times New Roman"/>
              </a:rPr>
              <a:t>Structured digital referral workflows linking primary, secondary, and tertiary </a:t>
            </a:r>
            <a:r>
              <a:rPr sz="1400" b="0" i="0" dirty="0" err="1">
                <a:solidFill>
                  <a:srgbClr val="2D3748"/>
                </a:solidFill>
                <a:latin typeface="Times New Roman"/>
              </a:rPr>
              <a:t>centres</a:t>
            </a:r>
            <a:r>
              <a:rPr sz="1400" b="0" i="0" dirty="0">
                <a:solidFill>
                  <a:srgbClr val="2D3748"/>
                </a:solidFill>
                <a:latin typeface="Times New Roman"/>
              </a:rPr>
              <a:t> with real-time bed and specialist availability tracking.</a:t>
            </a:r>
          </a:p>
          <a:p>
            <a:pPr>
              <a:spcAft>
                <a:spcPts val="350"/>
              </a:spcAft>
            </a:pPr>
            <a:r>
              <a:rPr sz="1400" b="1" i="0" dirty="0">
                <a:solidFill>
                  <a:srgbClr val="1A365D"/>
                </a:solidFill>
                <a:latin typeface="Times New Roman"/>
              </a:rPr>
              <a:t>• Digital OPD Queue &amp; Token Engine: </a:t>
            </a:r>
            <a:r>
              <a:rPr sz="1400" b="0" i="0" dirty="0">
                <a:solidFill>
                  <a:srgbClr val="2D3748"/>
                </a:solidFill>
                <a:latin typeface="Times New Roman"/>
              </a:rPr>
              <a:t>Dynamic M/M/1 wait-time estimation with QR-based digital token allocation to drastically eliminate outpatient waiting times.</a:t>
            </a:r>
          </a:p>
          <a:p>
            <a:pPr>
              <a:spcAft>
                <a:spcPts val="350"/>
              </a:spcAft>
            </a:pPr>
            <a:r>
              <a:rPr sz="1400" b="1" i="0" dirty="0">
                <a:solidFill>
                  <a:srgbClr val="1A365D"/>
                </a:solidFill>
                <a:latin typeface="Times New Roman"/>
              </a:rPr>
              <a:t>• Geospatial Outbreak Surveillance: </a:t>
            </a:r>
            <a:r>
              <a:rPr sz="1400" b="0" i="0" dirty="0">
                <a:solidFill>
                  <a:srgbClr val="2D3748"/>
                </a:solidFill>
                <a:latin typeface="Times New Roman"/>
              </a:rPr>
              <a:t>Automated syndromic data aggregation for proactive village-level epidemic identification, heatmaps, and administrative resource allocation.</a:t>
            </a:r>
          </a:p>
        </p:txBody>
      </p:sp>
      <p:sp>
        <p:nvSpPr>
          <p:cNvPr id="21" name="TextBox 20"/>
          <p:cNvSpPr txBox="1"/>
          <p:nvPr/>
        </p:nvSpPr>
        <p:spPr>
          <a:xfrm>
            <a:off x="7937500" y="1460500"/>
            <a:ext cx="9842500" cy="355600"/>
          </a:xfrm>
          <a:prstGeom prst="rect">
            <a:avLst/>
          </a:prstGeom>
          <a:noFill/>
        </p:spPr>
        <p:txBody>
          <a:bodyPr wrap="none">
            <a:spAutoFit/>
          </a:bodyPr>
          <a:lstStyle/>
          <a:p>
            <a:pPr algn="l">
              <a:spcAft>
                <a:spcPts val="200"/>
              </a:spcAft>
            </a:pPr>
            <a:r>
              <a:rPr sz="1300" b="1" i="0">
                <a:solidFill>
                  <a:srgbClr val="1A365D"/>
                </a:solidFill>
                <a:latin typeface="Times New Roman"/>
              </a:rPr>
              <a:t>Comparative Capability Matrix: Public Health System Analysis</a:t>
            </a:r>
          </a:p>
        </p:txBody>
      </p:sp>
      <p:graphicFrame>
        <p:nvGraphicFramePr>
          <p:cNvPr id="22" name="Table 21"/>
          <p:cNvGraphicFramePr>
            <a:graphicFrameLocks noGrp="1"/>
          </p:cNvGraphicFramePr>
          <p:nvPr/>
        </p:nvGraphicFramePr>
        <p:xfrm>
          <a:off x="7937500" y="1841500"/>
          <a:ext cx="9842500" cy="76200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33655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44285">
                <a:tc>
                  <a:txBody>
                    <a:bodyPr/>
                    <a:lstStyle/>
                    <a:p>
                      <a:pPr algn="ctr"/>
                      <a:r>
                        <a:rPr sz="1000" b="1">
                          <a:solidFill>
                            <a:srgbClr val="FFFFFF"/>
                          </a:solidFill>
                          <a:latin typeface="Times New Roman"/>
                        </a:rPr>
                        <a:t>Healthcare Feature / Requirement</a:t>
                      </a:r>
                    </a:p>
                  </a:txBody>
                  <a:tcPr marL="63500" marR="63500" marT="38100" marB="38100" anchor="ctr">
                    <a:solidFill>
                      <a:srgbClr val="1A365D"/>
                    </a:solidFill>
                  </a:tcPr>
                </a:tc>
                <a:tc>
                  <a:txBody>
                    <a:bodyPr/>
                    <a:lstStyle/>
                    <a:p>
                      <a:pPr algn="ctr"/>
                      <a:r>
                        <a:rPr sz="1000" b="1">
                          <a:solidFill>
                            <a:srgbClr val="FFFFFF"/>
                          </a:solidFill>
                          <a:latin typeface="Times New Roman"/>
                        </a:rPr>
                        <a:t>Conventional Health System / Existing Apps</a:t>
                      </a:r>
                    </a:p>
                  </a:txBody>
                  <a:tcPr marL="63500" marR="63500" marT="38100" marB="38100" anchor="ctr">
                    <a:solidFill>
                      <a:srgbClr val="1A365D"/>
                    </a:solidFill>
                  </a:tcPr>
                </a:tc>
                <a:tc>
                  <a:txBody>
                    <a:bodyPr/>
                    <a:lstStyle/>
                    <a:p>
                      <a:pPr algn="ctr"/>
                      <a:r>
                        <a:rPr sz="1000" b="1">
                          <a:solidFill>
                            <a:srgbClr val="FFFFFF"/>
                          </a:solidFill>
                          <a:latin typeface="Times New Roman"/>
                        </a:rPr>
                        <a:t>VitalSense Proposed Solution (Unique)</a:t>
                      </a:r>
                    </a:p>
                  </a:txBody>
                  <a:tcPr marL="63500" marR="63500" marT="38100" marB="38100" anchor="ctr">
                    <a:solidFill>
                      <a:srgbClr val="1A365D"/>
                    </a:solidFill>
                  </a:tcPr>
                </a:tc>
                <a:extLst>
                  <a:ext uri="{0D108BD9-81ED-4DB2-BD59-A6C34878D82A}">
                    <a16:rowId xmlns:a16="http://schemas.microsoft.com/office/drawing/2014/main" val="10000"/>
                  </a:ext>
                </a:extLst>
              </a:tr>
              <a:tr h="544285">
                <a:tc>
                  <a:txBody>
                    <a:bodyPr/>
                    <a:lstStyle/>
                    <a:p>
                      <a:pPr algn="l"/>
                      <a:r>
                        <a:rPr sz="900" b="1">
                          <a:solidFill>
                            <a:srgbClr val="1A365D"/>
                          </a:solidFill>
                          <a:latin typeface="Times New Roman"/>
                        </a:rPr>
                        <a:t>Teleconsultation &amp; Triage</a:t>
                      </a:r>
                    </a:p>
                  </a:txBody>
                  <a:tcPr marL="63500" marR="63500" marT="38100" marB="38100" anchor="ctr">
                    <a:solidFill>
                      <a:srgbClr val="FFFFFF"/>
                    </a:solidFill>
                  </a:tcPr>
                </a:tc>
                <a:tc>
                  <a:txBody>
                    <a:bodyPr/>
                    <a:lstStyle/>
                    <a:p>
                      <a:pPr algn="l"/>
                      <a:r>
                        <a:rPr sz="850" b="0">
                          <a:solidFill>
                            <a:srgbClr val="2D3748"/>
                          </a:solidFill>
                          <a:latin typeface="Times New Roman"/>
                        </a:rPr>
                        <a:t>✗  Restricted to urban video calls; requires 4G/5G broadband.</a:t>
                      </a:r>
                    </a:p>
                  </a:txBody>
                  <a:tcPr marL="63500" marR="63500" marT="38100" marB="38100" anchor="ctr">
                    <a:solidFill>
                      <a:srgbClr val="FFFFFF"/>
                    </a:solidFill>
                  </a:tcPr>
                </a:tc>
                <a:tc>
                  <a:txBody>
                    <a:bodyPr/>
                    <a:lstStyle/>
                    <a:p>
                      <a:pPr algn="l"/>
                      <a:r>
                        <a:rPr sz="850" b="1">
                          <a:solidFill>
                            <a:srgbClr val="287465"/>
                          </a:solidFill>
                          <a:latin typeface="Times New Roman"/>
                        </a:rPr>
                        <a:t>✓  Adaptive WebRTC (audio/video) with 2G fallback &amp; ASHA-assisted triage.</a:t>
                      </a:r>
                    </a:p>
                  </a:txBody>
                  <a:tcPr marL="63500" marR="63500" marT="38100" marB="38100" anchor="ctr">
                    <a:solidFill>
                      <a:srgbClr val="FFFFFF"/>
                    </a:solidFill>
                  </a:tcPr>
                </a:tc>
                <a:extLst>
                  <a:ext uri="{0D108BD9-81ED-4DB2-BD59-A6C34878D82A}">
                    <a16:rowId xmlns:a16="http://schemas.microsoft.com/office/drawing/2014/main" val="10001"/>
                  </a:ext>
                </a:extLst>
              </a:tr>
              <a:tr h="544285">
                <a:tc>
                  <a:txBody>
                    <a:bodyPr/>
                    <a:lstStyle/>
                    <a:p>
                      <a:pPr algn="l"/>
                      <a:r>
                        <a:rPr sz="900" b="1">
                          <a:solidFill>
                            <a:srgbClr val="1A365D"/>
                          </a:solidFill>
                          <a:latin typeface="Times New Roman"/>
                        </a:rPr>
                        <a:t>Appointments &amp; Queue Mgmt.</a:t>
                      </a:r>
                    </a:p>
                  </a:txBody>
                  <a:tcPr marL="63500" marR="63500" marT="38100" marB="38100" anchor="ctr">
                    <a:solidFill>
                      <a:srgbClr val="F8FAFC"/>
                    </a:solidFill>
                  </a:tcPr>
                </a:tc>
                <a:tc>
                  <a:txBody>
                    <a:bodyPr/>
                    <a:lstStyle/>
                    <a:p>
                      <a:pPr algn="l"/>
                      <a:r>
                        <a:rPr sz="850" b="0">
                          <a:solidFill>
                            <a:srgbClr val="2D3748"/>
                          </a:solidFill>
                          <a:latin typeface="Times New Roman"/>
                        </a:rPr>
                        <a:t>✗  Manual physical token queues; 60-90 min wait times.</a:t>
                      </a:r>
                    </a:p>
                  </a:txBody>
                  <a:tcPr marL="63500" marR="63500" marT="38100" marB="38100" anchor="ctr">
                    <a:solidFill>
                      <a:srgbClr val="F8FAFC"/>
                    </a:solidFill>
                  </a:tcPr>
                </a:tc>
                <a:tc>
                  <a:txBody>
                    <a:bodyPr/>
                    <a:lstStyle/>
                    <a:p>
                      <a:pPr algn="l"/>
                      <a:r>
                        <a:rPr sz="850" b="1">
                          <a:solidFill>
                            <a:srgbClr val="287465"/>
                          </a:solidFill>
                          <a:latin typeface="Times New Roman"/>
                        </a:rPr>
                        <a:t>✓  Authoritative digital tokens with dynamic M/M/1 wait-time ETA estimation.</a:t>
                      </a:r>
                    </a:p>
                  </a:txBody>
                  <a:tcPr marL="63500" marR="63500" marT="38100" marB="38100" anchor="ctr">
                    <a:solidFill>
                      <a:srgbClr val="F8FAFC"/>
                    </a:solidFill>
                  </a:tcPr>
                </a:tc>
                <a:extLst>
                  <a:ext uri="{0D108BD9-81ED-4DB2-BD59-A6C34878D82A}">
                    <a16:rowId xmlns:a16="http://schemas.microsoft.com/office/drawing/2014/main" val="10002"/>
                  </a:ext>
                </a:extLst>
              </a:tr>
              <a:tr h="544285">
                <a:tc>
                  <a:txBody>
                    <a:bodyPr/>
                    <a:lstStyle/>
                    <a:p>
                      <a:pPr algn="l"/>
                      <a:r>
                        <a:rPr sz="900" b="1">
                          <a:solidFill>
                            <a:srgbClr val="1A365D"/>
                          </a:solidFill>
                          <a:latin typeface="Times New Roman"/>
                        </a:rPr>
                        <a:t>Digital Triage &amp; Screening</a:t>
                      </a:r>
                    </a:p>
                  </a:txBody>
                  <a:tcPr marL="63500" marR="63500" marT="38100" marB="38100" anchor="ctr">
                    <a:solidFill>
                      <a:srgbClr val="FFFFFF"/>
                    </a:solidFill>
                  </a:tcPr>
                </a:tc>
                <a:tc>
                  <a:txBody>
                    <a:bodyPr/>
                    <a:lstStyle/>
                    <a:p>
                      <a:pPr algn="l"/>
                      <a:r>
                        <a:rPr sz="850" b="0">
                          <a:solidFill>
                            <a:srgbClr val="2D3748"/>
                          </a:solidFill>
                          <a:latin typeface="Times New Roman"/>
                        </a:rPr>
                        <a:t>✗  Paper registers; lack of standardized clinical scoring.</a:t>
                      </a:r>
                    </a:p>
                  </a:txBody>
                  <a:tcPr marL="63500" marR="63500" marT="38100" marB="38100" anchor="ctr">
                    <a:solidFill>
                      <a:srgbClr val="FFFFFF"/>
                    </a:solidFill>
                  </a:tcPr>
                </a:tc>
                <a:tc>
                  <a:txBody>
                    <a:bodyPr/>
                    <a:lstStyle/>
                    <a:p>
                      <a:pPr algn="l"/>
                      <a:r>
                        <a:rPr sz="850" b="1">
                          <a:solidFill>
                            <a:srgbClr val="287465"/>
                          </a:solidFill>
                          <a:latin typeface="Times New Roman"/>
                        </a:rPr>
                        <a:t>✓  Embedded clinical algorithms for maternal, child, and triage prioritisation.</a:t>
                      </a:r>
                    </a:p>
                  </a:txBody>
                  <a:tcPr marL="63500" marR="63500" marT="38100" marB="38100" anchor="ctr">
                    <a:solidFill>
                      <a:srgbClr val="FFFFFF"/>
                    </a:solidFill>
                  </a:tcPr>
                </a:tc>
                <a:extLst>
                  <a:ext uri="{0D108BD9-81ED-4DB2-BD59-A6C34878D82A}">
                    <a16:rowId xmlns:a16="http://schemas.microsoft.com/office/drawing/2014/main" val="10003"/>
                  </a:ext>
                </a:extLst>
              </a:tr>
              <a:tr h="544285">
                <a:tc>
                  <a:txBody>
                    <a:bodyPr/>
                    <a:lstStyle/>
                    <a:p>
                      <a:pPr algn="l"/>
                      <a:r>
                        <a:rPr sz="900" b="1">
                          <a:solidFill>
                            <a:srgbClr val="1A365D"/>
                          </a:solidFill>
                          <a:latin typeface="Times New Roman"/>
                        </a:rPr>
                        <a:t>Longitudinal Health Records</a:t>
                      </a:r>
                    </a:p>
                  </a:txBody>
                  <a:tcPr marL="63500" marR="63500" marT="38100" marB="38100" anchor="ctr">
                    <a:solidFill>
                      <a:srgbClr val="F8FAFC"/>
                    </a:solidFill>
                  </a:tcPr>
                </a:tc>
                <a:tc>
                  <a:txBody>
                    <a:bodyPr/>
                    <a:lstStyle/>
                    <a:p>
                      <a:pPr algn="l"/>
                      <a:r>
                        <a:rPr sz="850" b="0">
                          <a:solidFill>
                            <a:srgbClr val="2D3748"/>
                          </a:solidFill>
                          <a:latin typeface="Times New Roman"/>
                        </a:rPr>
                        <a:t>✗  Fragmented across paper slips; frequent record loss.</a:t>
                      </a:r>
                    </a:p>
                  </a:txBody>
                  <a:tcPr marL="63500" marR="63500" marT="38100" marB="38100" anchor="ctr">
                    <a:solidFill>
                      <a:srgbClr val="F8FAFC"/>
                    </a:solidFill>
                  </a:tcPr>
                </a:tc>
                <a:tc>
                  <a:txBody>
                    <a:bodyPr/>
                    <a:lstStyle/>
                    <a:p>
                      <a:pPr algn="l"/>
                      <a:r>
                        <a:rPr sz="850" b="1">
                          <a:solidFill>
                            <a:srgbClr val="287465"/>
                          </a:solidFill>
                          <a:latin typeface="Times New Roman"/>
                        </a:rPr>
                        <a:t>✓  Unified ABHA-linked longitudinal records across primary &amp; secondary visits.</a:t>
                      </a:r>
                    </a:p>
                  </a:txBody>
                  <a:tcPr marL="63500" marR="63500" marT="38100" marB="38100" anchor="ctr">
                    <a:solidFill>
                      <a:srgbClr val="F8FAFC"/>
                    </a:solidFill>
                  </a:tcPr>
                </a:tc>
                <a:extLst>
                  <a:ext uri="{0D108BD9-81ED-4DB2-BD59-A6C34878D82A}">
                    <a16:rowId xmlns:a16="http://schemas.microsoft.com/office/drawing/2014/main" val="10004"/>
                  </a:ext>
                </a:extLst>
              </a:tr>
              <a:tr h="544285">
                <a:tc>
                  <a:txBody>
                    <a:bodyPr/>
                    <a:lstStyle/>
                    <a:p>
                      <a:pPr algn="l"/>
                      <a:r>
                        <a:rPr sz="900" b="1">
                          <a:solidFill>
                            <a:srgbClr val="1A365D"/>
                          </a:solidFill>
                          <a:latin typeface="Times New Roman"/>
                        </a:rPr>
                        <a:t>Referral Tracking &amp; Follow-up</a:t>
                      </a:r>
                    </a:p>
                  </a:txBody>
                  <a:tcPr marL="63500" marR="63500" marT="38100" marB="38100" anchor="ctr">
                    <a:solidFill>
                      <a:srgbClr val="FFFFFF"/>
                    </a:solidFill>
                  </a:tcPr>
                </a:tc>
                <a:tc>
                  <a:txBody>
                    <a:bodyPr/>
                    <a:lstStyle/>
                    <a:p>
                      <a:pPr algn="l"/>
                      <a:r>
                        <a:rPr sz="850" b="0">
                          <a:solidFill>
                            <a:srgbClr val="2D3748"/>
                          </a:solidFill>
                          <a:latin typeface="Times New Roman"/>
                        </a:rPr>
                        <a:t>✗  Untracked paper referral slips; high loss-to-follow-up.</a:t>
                      </a:r>
                    </a:p>
                  </a:txBody>
                  <a:tcPr marL="63500" marR="63500" marT="38100" marB="38100" anchor="ctr">
                    <a:solidFill>
                      <a:srgbClr val="FFFFFF"/>
                    </a:solidFill>
                  </a:tcPr>
                </a:tc>
                <a:tc>
                  <a:txBody>
                    <a:bodyPr/>
                    <a:lstStyle/>
                    <a:p>
                      <a:pPr algn="l"/>
                      <a:r>
                        <a:rPr sz="850" b="1">
                          <a:solidFill>
                            <a:srgbClr val="287465"/>
                          </a:solidFill>
                          <a:latin typeface="Times New Roman"/>
                        </a:rPr>
                        <a:t>✓  Closed-loop digital referrals with automated case closure &amp; PHC feedback.</a:t>
                      </a:r>
                    </a:p>
                  </a:txBody>
                  <a:tcPr marL="63500" marR="63500" marT="38100" marB="38100" anchor="ctr">
                    <a:solidFill>
                      <a:srgbClr val="FFFFFF"/>
                    </a:solidFill>
                  </a:tcPr>
                </a:tc>
                <a:extLst>
                  <a:ext uri="{0D108BD9-81ED-4DB2-BD59-A6C34878D82A}">
                    <a16:rowId xmlns:a16="http://schemas.microsoft.com/office/drawing/2014/main" val="10005"/>
                  </a:ext>
                </a:extLst>
              </a:tr>
              <a:tr h="544285">
                <a:tc>
                  <a:txBody>
                    <a:bodyPr/>
                    <a:lstStyle/>
                    <a:p>
                      <a:pPr algn="l"/>
                      <a:r>
                        <a:rPr sz="900" b="1">
                          <a:solidFill>
                            <a:srgbClr val="1A365D"/>
                          </a:solidFill>
                          <a:latin typeface="Times New Roman"/>
                        </a:rPr>
                        <a:t>Diagnostics Coordination</a:t>
                      </a:r>
                    </a:p>
                  </a:txBody>
                  <a:tcPr marL="63500" marR="63500" marT="38100" marB="38100" anchor="ctr">
                    <a:solidFill>
                      <a:srgbClr val="F8FAFC"/>
                    </a:solidFill>
                  </a:tcPr>
                </a:tc>
                <a:tc>
                  <a:txBody>
                    <a:bodyPr/>
                    <a:lstStyle/>
                    <a:p>
                      <a:pPr algn="l"/>
                      <a:r>
                        <a:rPr sz="850" b="0">
                          <a:solidFill>
                            <a:srgbClr val="2D3748"/>
                          </a:solidFill>
                          <a:latin typeface="Times New Roman"/>
                        </a:rPr>
                        <a:t>✗  Physical collection of test slips; duplicate diagnostics.</a:t>
                      </a:r>
                    </a:p>
                  </a:txBody>
                  <a:tcPr marL="63500" marR="63500" marT="38100" marB="38100" anchor="ctr">
                    <a:solidFill>
                      <a:srgbClr val="F8FAFC"/>
                    </a:solidFill>
                  </a:tcPr>
                </a:tc>
                <a:tc>
                  <a:txBody>
                    <a:bodyPr/>
                    <a:lstStyle/>
                    <a:p>
                      <a:pPr algn="l"/>
                      <a:r>
                        <a:rPr sz="850" b="1">
                          <a:solidFill>
                            <a:srgbClr val="287465"/>
                          </a:solidFill>
                          <a:latin typeface="Times New Roman"/>
                        </a:rPr>
                        <a:t>✓  Integrated lab module linking diagnostic orders directly to patient records.</a:t>
                      </a:r>
                    </a:p>
                  </a:txBody>
                  <a:tcPr marL="63500" marR="63500" marT="38100" marB="38100" anchor="ctr">
                    <a:solidFill>
                      <a:srgbClr val="F8FAFC"/>
                    </a:solidFill>
                  </a:tcPr>
                </a:tc>
                <a:extLst>
                  <a:ext uri="{0D108BD9-81ED-4DB2-BD59-A6C34878D82A}">
                    <a16:rowId xmlns:a16="http://schemas.microsoft.com/office/drawing/2014/main" val="10006"/>
                  </a:ext>
                </a:extLst>
              </a:tr>
              <a:tr h="544285">
                <a:tc>
                  <a:txBody>
                    <a:bodyPr/>
                    <a:lstStyle/>
                    <a:p>
                      <a:pPr algn="l"/>
                      <a:r>
                        <a:rPr sz="900" b="1">
                          <a:solidFill>
                            <a:srgbClr val="1A365D"/>
                          </a:solidFill>
                          <a:latin typeface="Times New Roman"/>
                        </a:rPr>
                        <a:t>Medicine Availability</a:t>
                      </a:r>
                    </a:p>
                  </a:txBody>
                  <a:tcPr marL="63500" marR="63500" marT="38100" marB="38100" anchor="ctr">
                    <a:solidFill>
                      <a:srgbClr val="FFFFFF"/>
                    </a:solidFill>
                  </a:tcPr>
                </a:tc>
                <a:tc>
                  <a:txBody>
                    <a:bodyPr/>
                    <a:lstStyle/>
                    <a:p>
                      <a:pPr algn="l"/>
                      <a:r>
                        <a:rPr sz="850" b="0">
                          <a:solidFill>
                            <a:srgbClr val="2D3748"/>
                          </a:solidFill>
                          <a:latin typeface="Times New Roman"/>
                        </a:rPr>
                        <a:t>✗  Paper stock ledgers; unpredictable medicine stockouts.</a:t>
                      </a:r>
                    </a:p>
                  </a:txBody>
                  <a:tcPr marL="63500" marR="63500" marT="38100" marB="38100" anchor="ctr">
                    <a:solidFill>
                      <a:srgbClr val="FFFFFF"/>
                    </a:solidFill>
                  </a:tcPr>
                </a:tc>
                <a:tc>
                  <a:txBody>
                    <a:bodyPr/>
                    <a:lstStyle/>
                    <a:p>
                      <a:pPr algn="l"/>
                      <a:r>
                        <a:rPr sz="850" b="1">
                          <a:solidFill>
                            <a:srgbClr val="287465"/>
                          </a:solidFill>
                          <a:latin typeface="Times New Roman"/>
                        </a:rPr>
                        <a:t>✓  Real-time dispensary inventory tracking with automated reorder alerts.</a:t>
                      </a:r>
                    </a:p>
                  </a:txBody>
                  <a:tcPr marL="63500" marR="63500" marT="38100" marB="38100" anchor="ctr">
                    <a:solidFill>
                      <a:srgbClr val="FFFFFF"/>
                    </a:solidFill>
                  </a:tcPr>
                </a:tc>
                <a:extLst>
                  <a:ext uri="{0D108BD9-81ED-4DB2-BD59-A6C34878D82A}">
                    <a16:rowId xmlns:a16="http://schemas.microsoft.com/office/drawing/2014/main" val="10007"/>
                  </a:ext>
                </a:extLst>
              </a:tr>
              <a:tr h="544285">
                <a:tc>
                  <a:txBody>
                    <a:bodyPr/>
                    <a:lstStyle/>
                    <a:p>
                      <a:pPr algn="l"/>
                      <a:r>
                        <a:rPr sz="900" b="1">
                          <a:solidFill>
                            <a:srgbClr val="1A365D"/>
                          </a:solidFill>
                          <a:latin typeface="Times New Roman"/>
                        </a:rPr>
                        <a:t>High-Risk Patient Follow-up</a:t>
                      </a:r>
                    </a:p>
                  </a:txBody>
                  <a:tcPr marL="63500" marR="63500" marT="38100" marB="38100" anchor="ctr">
                    <a:solidFill>
                      <a:srgbClr val="F8FAFC"/>
                    </a:solidFill>
                  </a:tcPr>
                </a:tc>
                <a:tc>
                  <a:txBody>
                    <a:bodyPr/>
                    <a:lstStyle/>
                    <a:p>
                      <a:pPr algn="l"/>
                      <a:r>
                        <a:rPr sz="850" b="0">
                          <a:solidFill>
                            <a:srgbClr val="2D3748"/>
                          </a:solidFill>
                          <a:latin typeface="Times New Roman"/>
                        </a:rPr>
                        <a:t>✗  Ad-hoc manual tracking; missed critical follow-ups.</a:t>
                      </a:r>
                    </a:p>
                  </a:txBody>
                  <a:tcPr marL="63500" marR="63500" marT="38100" marB="38100" anchor="ctr">
                    <a:solidFill>
                      <a:srgbClr val="F8FAFC"/>
                    </a:solidFill>
                  </a:tcPr>
                </a:tc>
                <a:tc>
                  <a:txBody>
                    <a:bodyPr/>
                    <a:lstStyle/>
                    <a:p>
                      <a:pPr algn="l"/>
                      <a:r>
                        <a:rPr sz="850" b="1">
                          <a:solidFill>
                            <a:srgbClr val="287465"/>
                          </a:solidFill>
                          <a:latin typeface="Times New Roman"/>
                        </a:rPr>
                        <a:t>✓  Automated priority flagging &amp; scheduled reminders for ASHA home visits.</a:t>
                      </a:r>
                    </a:p>
                  </a:txBody>
                  <a:tcPr marL="63500" marR="63500" marT="38100" marB="38100" anchor="ctr">
                    <a:solidFill>
                      <a:srgbClr val="F8FAFC"/>
                    </a:solidFill>
                  </a:tcPr>
                </a:tc>
                <a:extLst>
                  <a:ext uri="{0D108BD9-81ED-4DB2-BD59-A6C34878D82A}">
                    <a16:rowId xmlns:a16="http://schemas.microsoft.com/office/drawing/2014/main" val="10008"/>
                  </a:ext>
                </a:extLst>
              </a:tr>
              <a:tr h="544285">
                <a:tc>
                  <a:txBody>
                    <a:bodyPr/>
                    <a:lstStyle/>
                    <a:p>
                      <a:pPr algn="l"/>
                      <a:r>
                        <a:rPr sz="900" b="1">
                          <a:solidFill>
                            <a:srgbClr val="1A365D"/>
                          </a:solidFill>
                          <a:latin typeface="Times New Roman"/>
                        </a:rPr>
                        <a:t>Administrative Dashboards</a:t>
                      </a:r>
                    </a:p>
                  </a:txBody>
                  <a:tcPr marL="63500" marR="63500" marT="38100" marB="38100" anchor="ctr">
                    <a:solidFill>
                      <a:srgbClr val="FFFFFF"/>
                    </a:solidFill>
                  </a:tcPr>
                </a:tc>
                <a:tc>
                  <a:txBody>
                    <a:bodyPr/>
                    <a:lstStyle/>
                    <a:p>
                      <a:pPr algn="l"/>
                      <a:r>
                        <a:rPr sz="850" b="0">
                          <a:solidFill>
                            <a:srgbClr val="2D3748"/>
                          </a:solidFill>
                          <a:latin typeface="Times New Roman"/>
                        </a:rPr>
                        <a:t>✗  Delayed monthly manual tally reports; reactive policy.</a:t>
                      </a:r>
                    </a:p>
                  </a:txBody>
                  <a:tcPr marL="63500" marR="63500" marT="38100" marB="38100" anchor="ctr">
                    <a:solidFill>
                      <a:srgbClr val="FFFFFF"/>
                    </a:solidFill>
                  </a:tcPr>
                </a:tc>
                <a:tc>
                  <a:txBody>
                    <a:bodyPr/>
                    <a:lstStyle/>
                    <a:p>
                      <a:pPr algn="l"/>
                      <a:r>
                        <a:rPr sz="850" b="1">
                          <a:solidFill>
                            <a:srgbClr val="287465"/>
                          </a:solidFill>
                          <a:latin typeface="Times New Roman"/>
                        </a:rPr>
                        <a:t>✓  Real-time village-level epidemiological heatmaps &amp; resource metrics.</a:t>
                      </a:r>
                    </a:p>
                  </a:txBody>
                  <a:tcPr marL="63500" marR="63500" marT="38100" marB="38100" anchor="ctr">
                    <a:solidFill>
                      <a:srgbClr val="FFFFFF"/>
                    </a:solidFill>
                  </a:tcPr>
                </a:tc>
                <a:extLst>
                  <a:ext uri="{0D108BD9-81ED-4DB2-BD59-A6C34878D82A}">
                    <a16:rowId xmlns:a16="http://schemas.microsoft.com/office/drawing/2014/main" val="10009"/>
                  </a:ext>
                </a:extLst>
              </a:tr>
              <a:tr h="544285">
                <a:tc>
                  <a:txBody>
                    <a:bodyPr/>
                    <a:lstStyle/>
                    <a:p>
                      <a:pPr algn="l"/>
                      <a:r>
                        <a:rPr sz="900" b="1">
                          <a:solidFill>
                            <a:srgbClr val="1A365D"/>
                          </a:solidFill>
                          <a:latin typeface="Times New Roman"/>
                        </a:rPr>
                        <a:t>Offline-First Architecture</a:t>
                      </a:r>
                    </a:p>
                  </a:txBody>
                  <a:tcPr marL="63500" marR="63500" marT="38100" marB="38100" anchor="ctr">
                    <a:solidFill>
                      <a:srgbClr val="F8FAFC"/>
                    </a:solidFill>
                  </a:tcPr>
                </a:tc>
                <a:tc>
                  <a:txBody>
                    <a:bodyPr/>
                    <a:lstStyle/>
                    <a:p>
                      <a:pPr algn="l"/>
                      <a:r>
                        <a:rPr sz="850" b="0">
                          <a:solidFill>
                            <a:srgbClr val="2D3748"/>
                          </a:solidFill>
                          <a:latin typeface="Times New Roman"/>
                        </a:rPr>
                        <a:t>✗  Cloud-dependent; crashes/blocks in low-network areas.</a:t>
                      </a:r>
                    </a:p>
                  </a:txBody>
                  <a:tcPr marL="63500" marR="63500" marT="38100" marB="38100" anchor="ctr">
                    <a:solidFill>
                      <a:srgbClr val="F8FAFC"/>
                    </a:solidFill>
                  </a:tcPr>
                </a:tc>
                <a:tc>
                  <a:txBody>
                    <a:bodyPr/>
                    <a:lstStyle/>
                    <a:p>
                      <a:pPr algn="l"/>
                      <a:r>
                        <a:rPr sz="850" b="1">
                          <a:solidFill>
                            <a:srgbClr val="287465"/>
                          </a:solidFill>
                          <a:latin typeface="Times New Roman"/>
                        </a:rPr>
                        <a:t>✓  Local SQLite (Room) + Transactional Outbox; 100% offline continuity.</a:t>
                      </a:r>
                    </a:p>
                  </a:txBody>
                  <a:tcPr marL="63500" marR="63500" marT="38100" marB="38100" anchor="ctr">
                    <a:solidFill>
                      <a:srgbClr val="F8FAFC"/>
                    </a:solidFill>
                  </a:tcPr>
                </a:tc>
                <a:extLst>
                  <a:ext uri="{0D108BD9-81ED-4DB2-BD59-A6C34878D82A}">
                    <a16:rowId xmlns:a16="http://schemas.microsoft.com/office/drawing/2014/main" val="10010"/>
                  </a:ext>
                </a:extLst>
              </a:tr>
              <a:tr h="544285">
                <a:tc>
                  <a:txBody>
                    <a:bodyPr/>
                    <a:lstStyle/>
                    <a:p>
                      <a:pPr algn="l"/>
                      <a:r>
                        <a:rPr sz="900" b="1">
                          <a:solidFill>
                            <a:srgbClr val="1A365D"/>
                          </a:solidFill>
                          <a:latin typeface="Times New Roman"/>
                        </a:rPr>
                        <a:t>National Interoperability</a:t>
                      </a:r>
                    </a:p>
                  </a:txBody>
                  <a:tcPr marL="63500" marR="63500" marT="38100" marB="38100" anchor="ctr">
                    <a:solidFill>
                      <a:srgbClr val="FFFFFF"/>
                    </a:solidFill>
                  </a:tcPr>
                </a:tc>
                <a:tc>
                  <a:txBody>
                    <a:bodyPr/>
                    <a:lstStyle/>
                    <a:p>
                      <a:pPr algn="l"/>
                      <a:r>
                        <a:rPr sz="850" b="0">
                          <a:solidFill>
                            <a:srgbClr val="2D3748"/>
                          </a:solidFill>
                          <a:latin typeface="Times New Roman"/>
                        </a:rPr>
                        <a:t>✗  Proprietary siloed formats; non-interoperable data.</a:t>
                      </a:r>
                    </a:p>
                  </a:txBody>
                  <a:tcPr marL="63500" marR="63500" marT="38100" marB="38100" anchor="ctr">
                    <a:solidFill>
                      <a:srgbClr val="FFFFFF"/>
                    </a:solidFill>
                  </a:tcPr>
                </a:tc>
                <a:tc>
                  <a:txBody>
                    <a:bodyPr/>
                    <a:lstStyle/>
                    <a:p>
                      <a:pPr algn="l"/>
                      <a:r>
                        <a:rPr sz="850" b="1">
                          <a:solidFill>
                            <a:srgbClr val="287465"/>
                          </a:solidFill>
                          <a:latin typeface="Times New Roman"/>
                        </a:rPr>
                        <a:t>✓  ABDM compliant; ABHA QR tokenisation &amp; FHIR health data standards.</a:t>
                      </a:r>
                    </a:p>
                  </a:txBody>
                  <a:tcPr marL="63500" marR="63500" marT="38100" marB="38100" anchor="ctr">
                    <a:solidFill>
                      <a:srgbClr val="FFFFFF"/>
                    </a:solidFill>
                  </a:tcPr>
                </a:tc>
                <a:extLst>
                  <a:ext uri="{0D108BD9-81ED-4DB2-BD59-A6C34878D82A}">
                    <a16:rowId xmlns:a16="http://schemas.microsoft.com/office/drawing/2014/main" val="10011"/>
                  </a:ext>
                </a:extLst>
              </a:tr>
              <a:tr h="544285">
                <a:tc>
                  <a:txBody>
                    <a:bodyPr/>
                    <a:lstStyle/>
                    <a:p>
                      <a:pPr algn="l"/>
                      <a:r>
                        <a:rPr sz="900" b="1">
                          <a:solidFill>
                            <a:srgbClr val="1A365D"/>
                          </a:solidFill>
                          <a:latin typeface="Times New Roman"/>
                        </a:rPr>
                        <a:t>Emergency Escalation (SOS)</a:t>
                      </a:r>
                    </a:p>
                  </a:txBody>
                  <a:tcPr marL="63500" marR="63500" marT="38100" marB="38100" anchor="ctr">
                    <a:solidFill>
                      <a:srgbClr val="F8FAFC"/>
                    </a:solidFill>
                  </a:tcPr>
                </a:tc>
                <a:tc>
                  <a:txBody>
                    <a:bodyPr/>
                    <a:lstStyle/>
                    <a:p>
                      <a:pPr algn="l"/>
                      <a:r>
                        <a:rPr sz="850" b="0">
                          <a:solidFill>
                            <a:srgbClr val="2D3748"/>
                          </a:solidFill>
                          <a:latin typeface="Times New Roman"/>
                        </a:rPr>
                        <a:t>✗  Dependent on working voice network or manual travel.</a:t>
                      </a:r>
                    </a:p>
                  </a:txBody>
                  <a:tcPr marL="63500" marR="63500" marT="38100" marB="38100" anchor="ctr">
                    <a:solidFill>
                      <a:srgbClr val="F8FAFC"/>
                    </a:solidFill>
                  </a:tcPr>
                </a:tc>
                <a:tc>
                  <a:txBody>
                    <a:bodyPr/>
                    <a:lstStyle/>
                    <a:p>
                      <a:pPr algn="l"/>
                      <a:r>
                        <a:rPr sz="850" b="1">
                          <a:solidFill>
                            <a:srgbClr val="287465"/>
                          </a:solidFill>
                          <a:latin typeface="Times New Roman"/>
                        </a:rPr>
                        <a:t>✓  Automated cellular SMS-fallback broadcast with GPS coordinates to 108/PHC.</a:t>
                      </a:r>
                    </a:p>
                  </a:txBody>
                  <a:tcPr marL="63500" marR="63500" marT="38100" marB="38100" anchor="ctr">
                    <a:solidFill>
                      <a:srgbClr val="F8FAFC"/>
                    </a:solidFill>
                  </a:tcPr>
                </a:tc>
                <a:extLst>
                  <a:ext uri="{0D108BD9-81ED-4DB2-BD59-A6C34878D82A}">
                    <a16:rowId xmlns:a16="http://schemas.microsoft.com/office/drawing/2014/main" val="10012"/>
                  </a:ext>
                </a:extLst>
              </a:tr>
              <a:tr h="544295">
                <a:tc>
                  <a:txBody>
                    <a:bodyPr/>
                    <a:lstStyle/>
                    <a:p>
                      <a:pPr algn="l"/>
                      <a:r>
                        <a:rPr sz="900" b="1">
                          <a:solidFill>
                            <a:srgbClr val="1A365D"/>
                          </a:solidFill>
                          <a:latin typeface="Times New Roman"/>
                        </a:rPr>
                        <a:t>CHW / ASHA Proxy Care</a:t>
                      </a:r>
                    </a:p>
                  </a:txBody>
                  <a:tcPr marL="63500" marR="63500" marT="38100" marB="38100" anchor="ctr">
                    <a:solidFill>
                      <a:srgbClr val="FFFFFF"/>
                    </a:solidFill>
                  </a:tcPr>
                </a:tc>
                <a:tc>
                  <a:txBody>
                    <a:bodyPr/>
                    <a:lstStyle/>
                    <a:p>
                      <a:pPr algn="l"/>
                      <a:r>
                        <a:rPr sz="850" b="0">
                          <a:solidFill>
                            <a:srgbClr val="2D3748"/>
                          </a:solidFill>
                          <a:latin typeface="Times New Roman"/>
                        </a:rPr>
                        <a:t>✗  Excluded; apps assume patient smartphone ownership.</a:t>
                      </a:r>
                    </a:p>
                  </a:txBody>
                  <a:tcPr marL="63500" marR="63500" marT="38100" marB="38100" anchor="ctr">
                    <a:solidFill>
                      <a:srgbClr val="FFFFFF"/>
                    </a:solidFill>
                  </a:tcPr>
                </a:tc>
                <a:tc>
                  <a:txBody>
                    <a:bodyPr/>
                    <a:lstStyle/>
                    <a:p>
                      <a:pPr algn="l"/>
                      <a:r>
                        <a:rPr sz="850" b="1">
                          <a:solidFill>
                            <a:srgbClr val="287465"/>
                          </a:solidFill>
                          <a:latin typeface="Times New Roman"/>
                        </a:rPr>
                        <a:t>✓  Dedicated ASHA assisted-care module with proxy consent &amp; offline survey tools.</a:t>
                      </a:r>
                    </a:p>
                  </a:txBody>
                  <a:tcPr marL="63500" marR="63500" marT="38100" marB="38100" anchor="ct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3" y="9759587"/>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a:p>
          </p:txBody>
        </p:sp>
      </p:grpSp>
      <p:grpSp>
        <p:nvGrpSpPr>
          <p:cNvPr id="4" name="Group 4"/>
          <p:cNvGrpSpPr/>
          <p:nvPr/>
        </p:nvGrpSpPr>
        <p:grpSpPr>
          <a:xfrm>
            <a:off x="2738092" y="0"/>
            <a:ext cx="12499485" cy="130203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a:p>
          </p:txBody>
        </p:sp>
        <p:sp>
          <p:nvSpPr>
            <p:cNvPr id="6" name="TextBox 6"/>
            <p:cNvSpPr txBox="1"/>
            <p:nvPr/>
          </p:nvSpPr>
          <p:spPr>
            <a:xfrm>
              <a:off x="0" y="-9525"/>
              <a:ext cx="21945600" cy="2295525"/>
            </a:xfrm>
            <a:prstGeom prst="rect">
              <a:avLst/>
            </a:prstGeom>
          </p:spPr>
          <p:txBody>
            <a:bodyPr lIns="0" tIns="0" rIns="0" bIns="0" rtlCol="0" anchor="ctr"/>
            <a:lstStyle/>
            <a:p>
              <a:pPr algn="ctr">
                <a:lnSpc>
                  <a:spcPts val="6120"/>
                </a:lnSpc>
              </a:pPr>
              <a:r>
                <a:rPr lang="en-US" sz="5100" b="1">
                  <a:solidFill>
                    <a:srgbClr val="004AAD"/>
                  </a:solidFill>
                  <a:latin typeface="Times New Roman"/>
                  <a:ea typeface="DM Sans Bold"/>
                  <a:cs typeface="DM Sans Bold"/>
                  <a:sym typeface="DM Sans Bold"/>
                </a:rPr>
                <a:t>TECHNICAL APPROACH</a:t>
              </a:r>
            </a:p>
          </p:txBody>
        </p:sp>
      </p:grpSp>
      <p:grpSp>
        <p:nvGrpSpPr>
          <p:cNvPr id="7" name="Group 7"/>
          <p:cNvGrpSpPr/>
          <p:nvPr/>
        </p:nvGrpSpPr>
        <p:grpSpPr>
          <a:xfrm>
            <a:off x="13777703" y="9739312"/>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txBody>
            <a:bodyPr/>
            <a:lstStyle/>
            <a:p>
              <a:endParaRPr/>
            </a:p>
          </p:txBody>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Times New Roman"/>
                  <a:ea typeface="Arimo Bold"/>
                  <a:cs typeface="Arimo Bold"/>
                  <a:sym typeface="Arimo Bold"/>
                </a:rPr>
                <a:t>3</a:t>
              </a:r>
            </a:p>
          </p:txBody>
        </p:sp>
      </p:grpSp>
      <p:grpSp>
        <p:nvGrpSpPr>
          <p:cNvPr id="10" name="Group 10"/>
          <p:cNvGrpSpPr/>
          <p:nvPr/>
        </p:nvGrpSpPr>
        <p:grpSpPr>
          <a:xfrm>
            <a:off x="376321" y="222864"/>
            <a:ext cx="1535820" cy="1001307"/>
            <a:chOff x="0" y="0"/>
            <a:chExt cx="2554516" cy="1665465"/>
          </a:xfrm>
        </p:grpSpPr>
        <p:sp>
          <p:nvSpPr>
            <p:cNvPr id="11" name="Freeform 11"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a:p>
          </p:txBody>
        </p:sp>
        <p:sp>
          <p:nvSpPr>
            <p:cNvPr id="12" name="TextBox 12"/>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700">
                  <a:solidFill>
                    <a:srgbClr val="000000"/>
                  </a:solidFill>
                  <a:latin typeface="Times New Roman"/>
                  <a:ea typeface="Calibri (MS)"/>
                  <a:cs typeface="Calibri (MS)"/>
                  <a:sym typeface="Calibri (MS)"/>
                </a:rPr>
                <a:t>ArogyaX</a:t>
              </a:r>
            </a:p>
          </p:txBody>
        </p:sp>
      </p:grpSp>
      <p:grpSp>
        <p:nvGrpSpPr>
          <p:cNvPr id="13" name="Group 13"/>
          <p:cNvGrpSpPr/>
          <p:nvPr/>
        </p:nvGrpSpPr>
        <p:grpSpPr>
          <a:xfrm>
            <a:off x="15507370" y="94670"/>
            <a:ext cx="2663588" cy="1257695"/>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a:p>
          </p:txBody>
        </p:sp>
      </p:grpSp>
      <p:sp>
        <p:nvSpPr>
          <p:cNvPr id="19" name="Freeform 19"/>
          <p:cNvSpPr/>
          <p:nvPr/>
        </p:nvSpPr>
        <p:spPr>
          <a:xfrm>
            <a:off x="508000" y="1460500"/>
            <a:ext cx="9144000" cy="5715000"/>
          </a:xfrm>
          <a:custGeom>
            <a:avLst/>
            <a:gdLst/>
            <a:ahLst/>
            <a:cxnLst/>
            <a:rect l="l" t="t" r="r" b="b"/>
            <a:pathLst>
              <a:path w="13098307" h="7682535">
                <a:moveTo>
                  <a:pt x="0" y="0"/>
                </a:moveTo>
                <a:lnTo>
                  <a:pt x="13098307" y="0"/>
                </a:lnTo>
                <a:lnTo>
                  <a:pt x="13098307" y="7682535"/>
                </a:lnTo>
                <a:lnTo>
                  <a:pt x="0" y="7682535"/>
                </a:lnTo>
                <a:lnTo>
                  <a:pt x="0" y="0"/>
                </a:lnTo>
                <a:close/>
              </a:path>
            </a:pathLst>
          </a:custGeom>
          <a:blipFill>
            <a:blip r:embed="rId5"/>
            <a:stretch>
              <a:fillRect t="-11832" b="-1830"/>
            </a:stretch>
          </a:blipFill>
        </p:spPr>
        <p:txBody>
          <a:bodyPr/>
          <a:lstStyle/>
          <a:p>
            <a:endParaRPr/>
          </a:p>
        </p:txBody>
      </p:sp>
      <p:sp>
        <p:nvSpPr>
          <p:cNvPr id="20" name="Rectangle 19"/>
          <p:cNvSpPr/>
          <p:nvPr/>
        </p:nvSpPr>
        <p:spPr>
          <a:xfrm>
            <a:off x="508000" y="7302500"/>
            <a:ext cx="9144000" cy="2095500"/>
          </a:xfrm>
          <a:prstGeom prst="rect">
            <a:avLst/>
          </a:prstGeom>
          <a:solidFill>
            <a:srgbClr val="FFFFFF"/>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000" y="7340600"/>
            <a:ext cx="6040436" cy="461665"/>
          </a:xfrm>
          <a:prstGeom prst="rect">
            <a:avLst/>
          </a:prstGeom>
          <a:noFill/>
        </p:spPr>
        <p:txBody>
          <a:bodyPr wrap="none">
            <a:spAutoFit/>
          </a:bodyPr>
          <a:lstStyle/>
          <a:p>
            <a:pPr algn="l">
              <a:spcAft>
                <a:spcPts val="200"/>
              </a:spcAft>
            </a:pPr>
            <a:r>
              <a:rPr lang="en-US" sz="2400" b="1" i="0" dirty="0">
                <a:solidFill>
                  <a:srgbClr val="1A365D"/>
                </a:solidFill>
                <a:latin typeface="Times New Roman"/>
              </a:rPr>
              <a:t>End-to-End Data Pipeline &amp; Execution Flow</a:t>
            </a:r>
            <a:endParaRPr sz="2400" b="1" i="0" dirty="0">
              <a:solidFill>
                <a:srgbClr val="1A365D"/>
              </a:solidFill>
              <a:latin typeface="Times New Roman"/>
            </a:endParaRPr>
          </a:p>
        </p:txBody>
      </p:sp>
      <p:sp>
        <p:nvSpPr>
          <p:cNvPr id="22" name="TextBox 21"/>
          <p:cNvSpPr txBox="1"/>
          <p:nvPr/>
        </p:nvSpPr>
        <p:spPr>
          <a:xfrm>
            <a:off x="632725" y="7800794"/>
            <a:ext cx="8890000" cy="1892826"/>
          </a:xfrm>
          <a:prstGeom prst="rect">
            <a:avLst/>
          </a:prstGeom>
          <a:noFill/>
        </p:spPr>
        <p:txBody>
          <a:bodyPr wrap="square">
            <a:spAutoFit/>
          </a:bodyPr>
          <a:lstStyle/>
          <a:p>
            <a:pPr>
              <a:spcAft>
                <a:spcPts val="200"/>
              </a:spcAft>
            </a:pPr>
            <a:r>
              <a:rPr sz="1400" b="1" i="0" dirty="0">
                <a:solidFill>
                  <a:srgbClr val="1A365D"/>
                </a:solidFill>
                <a:latin typeface="Times New Roman"/>
              </a:rPr>
              <a:t>1. Client Ingestion &amp; Local Store: </a:t>
            </a:r>
            <a:r>
              <a:rPr sz="1400" b="0" i="0" dirty="0">
                <a:solidFill>
                  <a:srgbClr val="2D3748"/>
                </a:solidFill>
                <a:latin typeface="Times New Roman"/>
              </a:rPr>
              <a:t>Frontline interactions (OPD triage, vitals, prescriptions) commit locally to Room SQLite within an atomic transaction; offline outbox record created.</a:t>
            </a:r>
          </a:p>
          <a:p>
            <a:pPr>
              <a:spcAft>
                <a:spcPts val="200"/>
              </a:spcAft>
            </a:pPr>
            <a:r>
              <a:rPr sz="1400" b="1" i="0" dirty="0">
                <a:solidFill>
                  <a:srgbClr val="1A365D"/>
                </a:solidFill>
                <a:latin typeface="Times New Roman"/>
              </a:rPr>
              <a:t>2. Adaptive Synchronization: </a:t>
            </a:r>
            <a:r>
              <a:rPr sz="1400" b="0" i="0" dirty="0" err="1">
                <a:solidFill>
                  <a:srgbClr val="2D3748"/>
                </a:solidFill>
                <a:latin typeface="Times New Roman"/>
              </a:rPr>
              <a:t>WorkManager</a:t>
            </a:r>
            <a:r>
              <a:rPr sz="1400" b="0" i="0" dirty="0">
                <a:solidFill>
                  <a:srgbClr val="2D3748"/>
                </a:solidFill>
                <a:latin typeface="Times New Roman"/>
              </a:rPr>
              <a:t> evaluates network connectivity; triggers idempotent HTTPS batch synchronization to Cloud </a:t>
            </a:r>
            <a:r>
              <a:rPr sz="1400" b="0" i="0" dirty="0" err="1">
                <a:solidFill>
                  <a:srgbClr val="2D3748"/>
                </a:solidFill>
                <a:latin typeface="Times New Roman"/>
              </a:rPr>
              <a:t>Firestore</a:t>
            </a:r>
            <a:r>
              <a:rPr sz="1400" b="0" i="0" dirty="0">
                <a:solidFill>
                  <a:srgbClr val="2D3748"/>
                </a:solidFill>
                <a:latin typeface="Times New Roman"/>
              </a:rPr>
              <a:t> upon signal acquisition.</a:t>
            </a:r>
          </a:p>
          <a:p>
            <a:pPr>
              <a:spcAft>
                <a:spcPts val="200"/>
              </a:spcAft>
            </a:pPr>
            <a:r>
              <a:rPr sz="1400" b="1" i="0" dirty="0">
                <a:solidFill>
                  <a:srgbClr val="1A365D"/>
                </a:solidFill>
                <a:latin typeface="Times New Roman"/>
              </a:rPr>
              <a:t>3. Serverless Event Automations: </a:t>
            </a:r>
            <a:r>
              <a:rPr sz="1400" b="0" i="0" dirty="0">
                <a:solidFill>
                  <a:srgbClr val="2D3748"/>
                </a:solidFill>
                <a:latin typeface="Times New Roman"/>
              </a:rPr>
              <a:t>Cloud Functions execute authoritative business logic: M/M/1 OPD token assignment, inventory decrement triggers, and case escalation listeners.</a:t>
            </a:r>
          </a:p>
          <a:p>
            <a:pPr>
              <a:spcAft>
                <a:spcPts val="200"/>
              </a:spcAft>
            </a:pPr>
            <a:r>
              <a:rPr sz="1400" b="1" i="0" dirty="0">
                <a:solidFill>
                  <a:srgbClr val="1A365D"/>
                </a:solidFill>
                <a:latin typeface="Times New Roman"/>
              </a:rPr>
              <a:t>4. Multi-Channel Alert Dispatch: </a:t>
            </a:r>
            <a:r>
              <a:rPr sz="1400" b="0" i="0" dirty="0">
                <a:solidFill>
                  <a:srgbClr val="2D3748"/>
                </a:solidFill>
                <a:latin typeface="Times New Roman"/>
              </a:rPr>
              <a:t>FCM dispatches real-time push notifications to online clients; cellular SMS Gateway fallback triggers automatically for critical emergency alerts</a:t>
            </a:r>
            <a:r>
              <a:rPr sz="850" b="0" i="0" dirty="0">
                <a:solidFill>
                  <a:srgbClr val="2D3748"/>
                </a:solidFill>
                <a:latin typeface="Times New Roman"/>
              </a:rPr>
              <a:t>.</a:t>
            </a:r>
          </a:p>
        </p:txBody>
      </p:sp>
      <p:sp>
        <p:nvSpPr>
          <p:cNvPr id="23" name="Rectangle 22"/>
          <p:cNvSpPr/>
          <p:nvPr/>
        </p:nvSpPr>
        <p:spPr>
          <a:xfrm>
            <a:off x="9842500" y="1460500"/>
            <a:ext cx="7937500" cy="2667000"/>
          </a:xfrm>
          <a:prstGeom prst="rect">
            <a:avLst/>
          </a:prstGeom>
          <a:solidFill>
            <a:srgbClr val="FFFFFF"/>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69500" y="1524000"/>
            <a:ext cx="6794424" cy="461665"/>
          </a:xfrm>
          <a:prstGeom prst="rect">
            <a:avLst/>
          </a:prstGeom>
          <a:noFill/>
        </p:spPr>
        <p:txBody>
          <a:bodyPr wrap="none">
            <a:spAutoFit/>
          </a:bodyPr>
          <a:lstStyle/>
          <a:p>
            <a:pPr algn="l">
              <a:spcAft>
                <a:spcPts val="200"/>
              </a:spcAft>
            </a:pPr>
            <a:r>
              <a:rPr sz="2400" b="1" i="0" dirty="0">
                <a:solidFill>
                  <a:srgbClr val="1A365D"/>
                </a:solidFill>
                <a:latin typeface="Times New Roman"/>
              </a:rPr>
              <a:t>Offline-First Engine &amp; Fault-Tolerant Sync Model</a:t>
            </a:r>
          </a:p>
        </p:txBody>
      </p:sp>
      <p:sp>
        <p:nvSpPr>
          <p:cNvPr id="25" name="TextBox 24"/>
          <p:cNvSpPr txBox="1"/>
          <p:nvPr/>
        </p:nvSpPr>
        <p:spPr>
          <a:xfrm>
            <a:off x="9969500" y="1978167"/>
            <a:ext cx="7683500" cy="2108269"/>
          </a:xfrm>
          <a:prstGeom prst="rect">
            <a:avLst/>
          </a:prstGeom>
          <a:noFill/>
        </p:spPr>
        <p:txBody>
          <a:bodyPr wrap="square">
            <a:spAutoFit/>
          </a:bodyPr>
          <a:lstStyle/>
          <a:p>
            <a:pPr>
              <a:spcAft>
                <a:spcPts val="300"/>
              </a:spcAft>
            </a:pPr>
            <a:r>
              <a:rPr sz="1400" b="1" i="0" dirty="0">
                <a:solidFill>
                  <a:srgbClr val="1A365D"/>
                </a:solidFill>
                <a:latin typeface="Times New Roman"/>
              </a:rPr>
              <a:t>Transactional Outbox Pattern: </a:t>
            </a:r>
            <a:r>
              <a:rPr sz="1400" b="0" i="0" dirty="0">
                <a:solidFill>
                  <a:srgbClr val="2D3748"/>
                </a:solidFill>
                <a:latin typeface="Times New Roman"/>
              </a:rPr>
              <a:t>All clinical data modifications (triage assessments, e-prescriptions, referral notes) are enqueued to an internal SQLite outbox queue before external network invocation, guaranteeing zero data loss during sudden 2G drops.</a:t>
            </a:r>
          </a:p>
          <a:p>
            <a:pPr>
              <a:spcAft>
                <a:spcPts val="300"/>
              </a:spcAft>
            </a:pPr>
            <a:r>
              <a:rPr sz="1400" b="1" i="0" dirty="0">
                <a:solidFill>
                  <a:srgbClr val="1A365D"/>
                </a:solidFill>
                <a:latin typeface="Times New Roman"/>
              </a:rPr>
              <a:t>Deterministic Conflict Resolution: </a:t>
            </a:r>
            <a:r>
              <a:rPr sz="1400" b="0" i="0" dirty="0">
                <a:solidFill>
                  <a:srgbClr val="2D3748"/>
                </a:solidFill>
                <a:latin typeface="Times New Roman"/>
              </a:rPr>
              <a:t>Client records maintain logical timestamp vector clocks. Reconciliation uses server-authoritative timestamp ordering with domain-specific append-only merges for longitudinal medical notes.</a:t>
            </a:r>
          </a:p>
          <a:p>
            <a:pPr>
              <a:spcAft>
                <a:spcPts val="300"/>
              </a:spcAft>
            </a:pPr>
            <a:r>
              <a:rPr sz="1400" b="1" i="0" dirty="0">
                <a:solidFill>
                  <a:srgbClr val="1A365D"/>
                </a:solidFill>
                <a:latin typeface="Times New Roman"/>
              </a:rPr>
              <a:t>Persistent Background Scheduling: </a:t>
            </a:r>
            <a:r>
              <a:rPr sz="1400" b="0" i="0" dirty="0">
                <a:solidFill>
                  <a:srgbClr val="2D3748"/>
                </a:solidFill>
                <a:latin typeface="Times New Roman"/>
              </a:rPr>
              <a:t>Android </a:t>
            </a:r>
            <a:r>
              <a:rPr sz="1400" b="0" i="0" dirty="0" err="1">
                <a:solidFill>
                  <a:srgbClr val="2D3748"/>
                </a:solidFill>
                <a:latin typeface="Times New Roman"/>
              </a:rPr>
              <a:t>WorkManager</a:t>
            </a:r>
            <a:r>
              <a:rPr sz="1400" b="0" i="0" dirty="0">
                <a:solidFill>
                  <a:srgbClr val="2D3748"/>
                </a:solidFill>
                <a:latin typeface="Times New Roman"/>
              </a:rPr>
              <a:t> manages sync jobs across application terminations and device reboots, applying exponential backoff retry algorithms (base: 30s, multiplier: 2.0) with battery/metered network constraints.</a:t>
            </a:r>
          </a:p>
        </p:txBody>
      </p:sp>
      <p:sp>
        <p:nvSpPr>
          <p:cNvPr id="26" name="Rectangle 25"/>
          <p:cNvSpPr/>
          <p:nvPr/>
        </p:nvSpPr>
        <p:spPr>
          <a:xfrm>
            <a:off x="9842500" y="4254500"/>
            <a:ext cx="7937500" cy="2794000"/>
          </a:xfrm>
          <a:prstGeom prst="rect">
            <a:avLst/>
          </a:prstGeom>
          <a:solidFill>
            <a:srgbClr val="FFFFFF"/>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9500" y="4318000"/>
            <a:ext cx="7683500" cy="317500"/>
          </a:xfrm>
          <a:prstGeom prst="rect">
            <a:avLst/>
          </a:prstGeom>
          <a:noFill/>
        </p:spPr>
        <p:txBody>
          <a:bodyPr wrap="none">
            <a:spAutoFit/>
          </a:bodyPr>
          <a:lstStyle/>
          <a:p>
            <a:pPr algn="l">
              <a:spcAft>
                <a:spcPts val="200"/>
              </a:spcAft>
            </a:pPr>
            <a:r>
              <a:rPr sz="1200" b="1" i="0">
                <a:solidFill>
                  <a:srgbClr val="1A365D"/>
                </a:solidFill>
                <a:latin typeface="Times New Roman"/>
              </a:rPr>
              <a:t>Technical Stack &amp; Architectural Specifications</a:t>
            </a:r>
          </a:p>
        </p:txBody>
      </p:sp>
      <p:graphicFrame>
        <p:nvGraphicFramePr>
          <p:cNvPr id="28" name="Table 27"/>
          <p:cNvGraphicFramePr>
            <a:graphicFrameLocks noGrp="1"/>
          </p:cNvGraphicFramePr>
          <p:nvPr/>
        </p:nvGraphicFramePr>
        <p:xfrm>
          <a:off x="9969500" y="4635500"/>
          <a:ext cx="7683500" cy="228600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20000"/>
                    </a:ext>
                  </a:extLst>
                </a:gridCol>
                <a:gridCol w="5461000">
                  <a:extLst>
                    <a:ext uri="{9D8B030D-6E8A-4147-A177-3AD203B41FA5}">
                      <a16:colId xmlns:a16="http://schemas.microsoft.com/office/drawing/2014/main" val="20001"/>
                    </a:ext>
                  </a:extLst>
                </a:gridCol>
              </a:tblGrid>
              <a:tr h="457200">
                <a:tc>
                  <a:txBody>
                    <a:bodyPr/>
                    <a:lstStyle/>
                    <a:p>
                      <a:pPr algn="l"/>
                      <a:r>
                        <a:rPr sz="900" b="1">
                          <a:solidFill>
                            <a:srgbClr val="1A365D"/>
                          </a:solidFill>
                          <a:latin typeface="Times New Roman"/>
                        </a:rPr>
                        <a:t>Client-Side Mobile Stack</a:t>
                      </a:r>
                    </a:p>
                  </a:txBody>
                  <a:tcPr marL="63500" marR="63500" marT="38100" marB="38100" anchor="ctr">
                    <a:solidFill>
                      <a:srgbClr val="FFFFFF"/>
                    </a:solidFill>
                  </a:tcPr>
                </a:tc>
                <a:tc>
                  <a:txBody>
                    <a:bodyPr/>
                    <a:lstStyle/>
                    <a:p>
                      <a:pPr algn="l"/>
                      <a:r>
                        <a:rPr sz="850" b="0">
                          <a:solidFill>
                            <a:srgbClr val="2D3748"/>
                          </a:solidFill>
                          <a:latin typeface="Times New Roman"/>
                        </a:rPr>
                        <a:t>Android Native (Kotlin 1.9.22), Jetpack Compose (Material 3), Room SQLite (v2 Engine), Dagger Hilt 2.51.1 (DI), Coroutines &amp; StateFlow.</a:t>
                      </a:r>
                    </a:p>
                  </a:txBody>
                  <a:tcPr marL="63500" marR="63500" marT="38100" marB="38100" anchor="ctr">
                    <a:solidFill>
                      <a:srgbClr val="FFFFFF"/>
                    </a:solidFill>
                  </a:tcPr>
                </a:tc>
                <a:extLst>
                  <a:ext uri="{0D108BD9-81ED-4DB2-BD59-A6C34878D82A}">
                    <a16:rowId xmlns:a16="http://schemas.microsoft.com/office/drawing/2014/main" val="10000"/>
                  </a:ext>
                </a:extLst>
              </a:tr>
              <a:tr h="457200">
                <a:tc>
                  <a:txBody>
                    <a:bodyPr/>
                    <a:lstStyle/>
                    <a:p>
                      <a:pPr algn="l"/>
                      <a:r>
                        <a:rPr sz="900" b="1">
                          <a:solidFill>
                            <a:srgbClr val="1A365D"/>
                          </a:solidFill>
                          <a:latin typeface="Times New Roman"/>
                        </a:rPr>
                        <a:t>Cloud Backend &amp; Database</a:t>
                      </a:r>
                    </a:p>
                  </a:txBody>
                  <a:tcPr marL="63500" marR="63500" marT="38100" marB="38100" anchor="ctr">
                    <a:solidFill>
                      <a:srgbClr val="F8FAFC"/>
                    </a:solidFill>
                  </a:tcPr>
                </a:tc>
                <a:tc>
                  <a:txBody>
                    <a:bodyPr/>
                    <a:lstStyle/>
                    <a:p>
                      <a:pPr algn="l"/>
                      <a:r>
                        <a:rPr sz="850" b="0">
                          <a:solidFill>
                            <a:srgbClr val="2D3748"/>
                          </a:solidFill>
                          <a:latin typeface="Times New Roman"/>
                        </a:rPr>
                        <a:t>Google Cloud Firestore (Distributed NoSQL), Cloud Functions (Serverless Node.js event triggers), Cloud Storage (Encrypted clinical assets).</a:t>
                      </a:r>
                    </a:p>
                  </a:txBody>
                  <a:tcPr marL="63500" marR="63500" marT="38100" marB="38100" anchor="ctr">
                    <a:solidFill>
                      <a:srgbClr val="F8FAFC"/>
                    </a:solidFill>
                  </a:tcPr>
                </a:tc>
                <a:extLst>
                  <a:ext uri="{0D108BD9-81ED-4DB2-BD59-A6C34878D82A}">
                    <a16:rowId xmlns:a16="http://schemas.microsoft.com/office/drawing/2014/main" val="10001"/>
                  </a:ext>
                </a:extLst>
              </a:tr>
              <a:tr h="457200">
                <a:tc>
                  <a:txBody>
                    <a:bodyPr/>
                    <a:lstStyle/>
                    <a:p>
                      <a:pPr algn="l"/>
                      <a:r>
                        <a:rPr sz="900" b="1">
                          <a:solidFill>
                            <a:srgbClr val="1A365D"/>
                          </a:solidFill>
                          <a:latin typeface="Times New Roman"/>
                        </a:rPr>
                        <a:t>On-Device AI / Machine Learning</a:t>
                      </a:r>
                    </a:p>
                  </a:txBody>
                  <a:tcPr marL="63500" marR="63500" marT="38100" marB="38100" anchor="ctr">
                    <a:solidFill>
                      <a:srgbClr val="FFFFFF"/>
                    </a:solidFill>
                  </a:tcPr>
                </a:tc>
                <a:tc>
                  <a:txBody>
                    <a:bodyPr/>
                    <a:lstStyle/>
                    <a:p>
                      <a:pPr algn="l"/>
                      <a:r>
                        <a:rPr sz="850" b="0">
                          <a:solidFill>
                            <a:srgbClr val="2D3748"/>
                          </a:solidFill>
                          <a:latin typeface="Times New Roman"/>
                        </a:rPr>
                        <a:t>Google ML Kit Vision v2 OCR pipeline with heuristic text line segmentation for digitizing physical handwritten prescriptions locally.</a:t>
                      </a:r>
                    </a:p>
                  </a:txBody>
                  <a:tcPr marL="63500" marR="63500" marT="38100" marB="38100" anchor="ctr">
                    <a:solidFill>
                      <a:srgbClr val="FFFFFF"/>
                    </a:solidFill>
                  </a:tcPr>
                </a:tc>
                <a:extLst>
                  <a:ext uri="{0D108BD9-81ED-4DB2-BD59-A6C34878D82A}">
                    <a16:rowId xmlns:a16="http://schemas.microsoft.com/office/drawing/2014/main" val="10002"/>
                  </a:ext>
                </a:extLst>
              </a:tr>
              <a:tr h="457200">
                <a:tc>
                  <a:txBody>
                    <a:bodyPr/>
                    <a:lstStyle/>
                    <a:p>
                      <a:pPr algn="l"/>
                      <a:r>
                        <a:rPr sz="900" b="1">
                          <a:solidFill>
                            <a:srgbClr val="1A365D"/>
                          </a:solidFill>
                          <a:latin typeface="Times New Roman"/>
                        </a:rPr>
                        <a:t>Telehealth &amp; Interoperability</a:t>
                      </a:r>
                    </a:p>
                  </a:txBody>
                  <a:tcPr marL="63500" marR="63500" marT="38100" marB="38100" anchor="ctr">
                    <a:solidFill>
                      <a:srgbClr val="F8FAFC"/>
                    </a:solidFill>
                  </a:tcPr>
                </a:tc>
                <a:tc>
                  <a:txBody>
                    <a:bodyPr/>
                    <a:lstStyle/>
                    <a:p>
                      <a:pPr algn="l"/>
                      <a:r>
                        <a:rPr sz="850" b="0">
                          <a:solidFill>
                            <a:srgbClr val="2D3748"/>
                          </a:solidFill>
                          <a:latin typeface="Times New Roman"/>
                        </a:rPr>
                        <a:t>WebRTC peer-to-peer audio/video with dynamic bitrate scaling down to 32 kbps; ABDM M1/M2/M3 compliance; ABHA QR tokenisation.</a:t>
                      </a:r>
                    </a:p>
                  </a:txBody>
                  <a:tcPr marL="63500" marR="63500" marT="38100" marB="38100" anchor="ctr">
                    <a:solidFill>
                      <a:srgbClr val="F8FAFC"/>
                    </a:solidFill>
                  </a:tcPr>
                </a:tc>
                <a:extLst>
                  <a:ext uri="{0D108BD9-81ED-4DB2-BD59-A6C34878D82A}">
                    <a16:rowId xmlns:a16="http://schemas.microsoft.com/office/drawing/2014/main" val="10003"/>
                  </a:ext>
                </a:extLst>
              </a:tr>
              <a:tr h="457200">
                <a:tc>
                  <a:txBody>
                    <a:bodyPr/>
                    <a:lstStyle/>
                    <a:p>
                      <a:pPr algn="l"/>
                      <a:r>
                        <a:rPr sz="900" b="1">
                          <a:solidFill>
                            <a:srgbClr val="1A365D"/>
                          </a:solidFill>
                          <a:latin typeface="Times New Roman"/>
                        </a:rPr>
                        <a:t>Security &amp; Background Sync</a:t>
                      </a:r>
                    </a:p>
                  </a:txBody>
                  <a:tcPr marL="63500" marR="63500" marT="38100" marB="38100" anchor="ctr">
                    <a:solidFill>
                      <a:srgbClr val="FFFFFF"/>
                    </a:solidFill>
                  </a:tcPr>
                </a:tc>
                <a:tc>
                  <a:txBody>
                    <a:bodyPr/>
                    <a:lstStyle/>
                    <a:p>
                      <a:pPr algn="l"/>
                      <a:r>
                        <a:rPr sz="850" b="0">
                          <a:solidFill>
                            <a:srgbClr val="2D3748"/>
                          </a:solidFill>
                          <a:latin typeface="Times New Roman"/>
                        </a:rPr>
                        <a:t>AES-256 local database encryption (SQLCipher); Firebase Granular Security Rules (RBAC); WorkManager sync engine; FCM &amp; SMS Fallback.</a:t>
                      </a:r>
                    </a:p>
                  </a:txBody>
                  <a:tcPr marL="63500" marR="63500" marT="38100" marB="38100" anchor="ctr">
                    <a:solidFill>
                      <a:srgbClr val="FFFFFF"/>
                    </a:solidFill>
                  </a:tcPr>
                </a:tc>
                <a:extLst>
                  <a:ext uri="{0D108BD9-81ED-4DB2-BD59-A6C34878D82A}">
                    <a16:rowId xmlns:a16="http://schemas.microsoft.com/office/drawing/2014/main" val="10004"/>
                  </a:ext>
                </a:extLst>
              </a:tr>
            </a:tbl>
          </a:graphicData>
        </a:graphic>
      </p:graphicFrame>
      <p:sp>
        <p:nvSpPr>
          <p:cNvPr id="29" name="Rectangle 28"/>
          <p:cNvSpPr/>
          <p:nvPr/>
        </p:nvSpPr>
        <p:spPr>
          <a:xfrm>
            <a:off x="9842500" y="7175500"/>
            <a:ext cx="7937500" cy="22225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69500" y="7264400"/>
            <a:ext cx="5905500" cy="2085186"/>
          </a:xfrm>
          <a:prstGeom prst="rect">
            <a:avLst/>
          </a:prstGeom>
          <a:noFill/>
        </p:spPr>
        <p:txBody>
          <a:bodyPr wrap="square">
            <a:spAutoFit/>
          </a:bodyPr>
          <a:lstStyle/>
          <a:p>
            <a:pPr algn="l">
              <a:spcAft>
                <a:spcPts val="300"/>
              </a:spcAft>
            </a:pPr>
            <a:r>
              <a:rPr sz="2400" b="1" i="0" dirty="0">
                <a:solidFill>
                  <a:srgbClr val="1A365D"/>
                </a:solidFill>
                <a:latin typeface="Times New Roman"/>
              </a:rPr>
              <a:t>Live Working Prototype &amp; Verification</a:t>
            </a:r>
          </a:p>
          <a:p>
            <a:pPr algn="l">
              <a:spcAft>
                <a:spcPts val="300"/>
              </a:spcAft>
            </a:pPr>
            <a:r>
              <a:rPr sz="1400" b="0" i="0" dirty="0">
                <a:solidFill>
                  <a:srgbClr val="2D3748"/>
                </a:solidFill>
                <a:latin typeface="Times New Roman"/>
              </a:rPr>
              <a:t>• Scan the QR code to access the active demonstration build and compiled Android application package (APK).</a:t>
            </a:r>
          </a:p>
          <a:p>
            <a:pPr algn="l">
              <a:spcAft>
                <a:spcPts val="300"/>
              </a:spcAft>
            </a:pPr>
            <a:r>
              <a:rPr sz="1400" b="0" i="0" dirty="0">
                <a:solidFill>
                  <a:srgbClr val="718096"/>
                </a:solidFill>
                <a:latin typeface="Times New Roman"/>
              </a:rPr>
              <a:t>• Verified on-device modules: Offline patient intake, Room SQLite sync outbox, ABHA QR scanning, ML Kit prescription scanner, and Doctor OPD queue manager.</a:t>
            </a:r>
          </a:p>
          <a:p>
            <a:pPr algn="l">
              <a:spcAft>
                <a:spcPts val="200"/>
              </a:spcAft>
            </a:pPr>
            <a:r>
              <a:rPr sz="1400" b="0" i="1" dirty="0">
                <a:solidFill>
                  <a:srgbClr val="2B6CB0"/>
                </a:solidFill>
                <a:latin typeface="Times New Roman"/>
              </a:rPr>
              <a:t>• Hardware validated: Tested successfully on Android 8.0+ devices with 2GB RAM under simulated zero-connectivity conditions</a:t>
            </a:r>
            <a:r>
              <a:rPr sz="850" b="0" i="1" dirty="0">
                <a:solidFill>
                  <a:srgbClr val="2B6CB0"/>
                </a:solidFill>
                <a:latin typeface="Times New Roman"/>
              </a:rPr>
              <a:t>.</a:t>
            </a:r>
          </a:p>
        </p:txBody>
      </p:sp>
      <p:pic>
        <p:nvPicPr>
          <p:cNvPr id="31" name="Picture 30" descr="image.png"/>
          <p:cNvPicPr>
            <a:picLocks noChangeAspect="1"/>
          </p:cNvPicPr>
          <p:nvPr/>
        </p:nvPicPr>
        <p:blipFill>
          <a:blip r:embed="rId6"/>
          <a:stretch>
            <a:fillRect/>
          </a:stretch>
        </p:blipFill>
        <p:spPr>
          <a:xfrm>
            <a:off x="16065500" y="7302500"/>
            <a:ext cx="1587500" cy="1587500"/>
          </a:xfrm>
          <a:prstGeom prst="rect">
            <a:avLst/>
          </a:prstGeom>
        </p:spPr>
      </p:pic>
      <p:sp>
        <p:nvSpPr>
          <p:cNvPr id="32" name="TextBox 31"/>
          <p:cNvSpPr txBox="1"/>
          <p:nvPr/>
        </p:nvSpPr>
        <p:spPr>
          <a:xfrm>
            <a:off x="15938500" y="8953500"/>
            <a:ext cx="1841500" cy="317500"/>
          </a:xfrm>
          <a:prstGeom prst="rect">
            <a:avLst/>
          </a:prstGeom>
          <a:noFill/>
        </p:spPr>
        <p:txBody>
          <a:bodyPr wrap="none">
            <a:spAutoFit/>
          </a:bodyPr>
          <a:lstStyle/>
          <a:p>
            <a:pPr algn="ctr">
              <a:spcAft>
                <a:spcPts val="200"/>
              </a:spcAft>
            </a:pPr>
            <a:r>
              <a:rPr sz="850" b="1" i="0">
                <a:solidFill>
                  <a:srgbClr val="1A365D"/>
                </a:solidFill>
                <a:latin typeface="Times New Roman"/>
              </a:rPr>
              <a:t>Scan for Prototype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347" y="9711608"/>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a:p>
          </p:txBody>
        </p:sp>
      </p:grpSp>
      <p:grpSp>
        <p:nvGrpSpPr>
          <p:cNvPr id="5" name="Group 5"/>
          <p:cNvGrpSpPr/>
          <p:nvPr/>
        </p:nvGrpSpPr>
        <p:grpSpPr>
          <a:xfrm>
            <a:off x="914400" y="-250495"/>
            <a:ext cx="16459200" cy="1714500"/>
            <a:chOff x="0" y="0"/>
            <a:chExt cx="21945600" cy="2286000"/>
          </a:xfrm>
        </p:grpSpPr>
        <p:sp>
          <p:nvSpPr>
            <p:cNvPr id="6" name="Freeform 6"/>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a:p>
          </p:txBody>
        </p:sp>
        <p:sp>
          <p:nvSpPr>
            <p:cNvPr id="7" name="TextBox 7"/>
            <p:cNvSpPr txBox="1"/>
            <p:nvPr/>
          </p:nvSpPr>
          <p:spPr>
            <a:xfrm>
              <a:off x="0" y="0"/>
              <a:ext cx="21945600" cy="2286000"/>
            </a:xfrm>
            <a:prstGeom prst="rect">
              <a:avLst/>
            </a:prstGeom>
          </p:spPr>
          <p:txBody>
            <a:bodyPr lIns="0" tIns="0" rIns="0" bIns="0" rtlCol="0" anchor="ctr"/>
            <a:lstStyle/>
            <a:p>
              <a:pPr algn="ctr">
                <a:lnSpc>
                  <a:spcPts val="6239"/>
                </a:lnSpc>
              </a:pPr>
              <a:r>
                <a:rPr lang="en-US" sz="5199" b="1">
                  <a:solidFill>
                    <a:srgbClr val="004AAD"/>
                  </a:solidFill>
                  <a:latin typeface="Times New Roman"/>
                  <a:ea typeface="DM Sans Bold"/>
                  <a:cs typeface="DM Sans Bold"/>
                  <a:sym typeface="DM Sans Bold"/>
                </a:rPr>
                <a:t>FEASIBILITY AND VIABILITY</a:t>
              </a:r>
            </a:p>
          </p:txBody>
        </p:sp>
      </p:grpSp>
      <p:grpSp>
        <p:nvGrpSpPr>
          <p:cNvPr id="11" name="Group 11"/>
          <p:cNvGrpSpPr/>
          <p:nvPr/>
        </p:nvGrpSpPr>
        <p:grpSpPr>
          <a:xfrm>
            <a:off x="245073" y="71310"/>
            <a:ext cx="1810953" cy="1180686"/>
            <a:chOff x="0" y="0"/>
            <a:chExt cx="2554516" cy="1665465"/>
          </a:xfrm>
        </p:grpSpPr>
        <p:sp>
          <p:nvSpPr>
            <p:cNvPr id="12" name="Freeform 12"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a:p>
          </p:txBody>
        </p:sp>
        <p:sp>
          <p:nvSpPr>
            <p:cNvPr id="13" name="TextBox 13"/>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700">
                  <a:solidFill>
                    <a:srgbClr val="000000"/>
                  </a:solidFill>
                  <a:latin typeface="Times New Roman"/>
                  <a:ea typeface="Calibri (MS)"/>
                  <a:cs typeface="Calibri (MS)"/>
                  <a:sym typeface="Calibri (MS)"/>
                </a:rPr>
                <a:t>ArogyaX</a:t>
              </a:r>
            </a:p>
          </p:txBody>
        </p:sp>
      </p:grpSp>
      <p:grpSp>
        <p:nvGrpSpPr>
          <p:cNvPr id="14" name="Group 14"/>
          <p:cNvGrpSpPr/>
          <p:nvPr/>
        </p:nvGrpSpPr>
        <p:grpSpPr>
          <a:xfrm>
            <a:off x="15390974" y="187581"/>
            <a:ext cx="2690156" cy="1270240"/>
            <a:chOff x="0" y="0"/>
            <a:chExt cx="4499699" cy="2124672"/>
          </a:xfrm>
        </p:grpSpPr>
        <p:sp>
          <p:nvSpPr>
            <p:cNvPr id="15" name="Freeform 15"/>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a:p>
          </p:txBody>
        </p:sp>
      </p:grpSp>
      <p:sp>
        <p:nvSpPr>
          <p:cNvPr id="23" name="TextBox 23"/>
          <p:cNvSpPr txBox="1"/>
          <p:nvPr/>
        </p:nvSpPr>
        <p:spPr>
          <a:xfrm>
            <a:off x="17626523" y="9718986"/>
            <a:ext cx="215205" cy="481330"/>
          </a:xfrm>
          <a:prstGeom prst="rect">
            <a:avLst/>
          </a:prstGeom>
        </p:spPr>
        <p:txBody>
          <a:bodyPr lIns="0" tIns="0" rIns="0" bIns="0" rtlCol="0" anchor="t">
            <a:spAutoFit/>
          </a:bodyPr>
          <a:lstStyle/>
          <a:p>
            <a:pPr algn="ctr">
              <a:lnSpc>
                <a:spcPts val="3920"/>
              </a:lnSpc>
            </a:pPr>
            <a:r>
              <a:rPr lang="en-US" sz="2800">
                <a:solidFill>
                  <a:srgbClr val="FFFFFF"/>
                </a:solidFill>
                <a:latin typeface="Times New Roman"/>
                <a:ea typeface="Canva Sans"/>
                <a:cs typeface="Canva Sans"/>
                <a:sym typeface="Canva Sans"/>
              </a:rPr>
              <a:t>4</a:t>
            </a:r>
          </a:p>
        </p:txBody>
      </p:sp>
      <p:sp>
        <p:nvSpPr>
          <p:cNvPr id="24" name="Rectangle 23"/>
          <p:cNvSpPr/>
          <p:nvPr/>
        </p:nvSpPr>
        <p:spPr>
          <a:xfrm>
            <a:off x="508000" y="1460500"/>
            <a:ext cx="17272000" cy="1905000"/>
          </a:xfrm>
          <a:prstGeom prst="rect">
            <a:avLst/>
          </a:prstGeom>
          <a:solidFill>
            <a:srgbClr val="FFFFFF"/>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8500" y="1498600"/>
            <a:ext cx="10226326" cy="461665"/>
          </a:xfrm>
          <a:prstGeom prst="rect">
            <a:avLst/>
          </a:prstGeom>
          <a:noFill/>
        </p:spPr>
        <p:txBody>
          <a:bodyPr wrap="none">
            <a:spAutoFit/>
          </a:bodyPr>
          <a:lstStyle/>
          <a:p>
            <a:pPr algn="l">
              <a:spcAft>
                <a:spcPts val="200"/>
              </a:spcAft>
            </a:pPr>
            <a:r>
              <a:rPr sz="2400" b="1" i="0" dirty="0">
                <a:solidFill>
                  <a:srgbClr val="1A365D"/>
                </a:solidFill>
                <a:latin typeface="Times New Roman"/>
              </a:rPr>
              <a:t>Comprehensive Feasibility Assessment (Technical, Operational &amp; Economic)</a:t>
            </a:r>
          </a:p>
        </p:txBody>
      </p:sp>
      <p:sp>
        <p:nvSpPr>
          <p:cNvPr id="26" name="TextBox 25"/>
          <p:cNvSpPr txBox="1"/>
          <p:nvPr/>
        </p:nvSpPr>
        <p:spPr>
          <a:xfrm>
            <a:off x="698500" y="1959696"/>
            <a:ext cx="5461000" cy="1431161"/>
          </a:xfrm>
          <a:prstGeom prst="rect">
            <a:avLst/>
          </a:prstGeom>
          <a:noFill/>
        </p:spPr>
        <p:txBody>
          <a:bodyPr wrap="square">
            <a:spAutoFit/>
          </a:bodyPr>
          <a:lstStyle/>
          <a:p>
            <a:pPr algn="l">
              <a:spcAft>
                <a:spcPts val="200"/>
              </a:spcAft>
            </a:pPr>
            <a:r>
              <a:rPr sz="1600" b="1" i="0" dirty="0">
                <a:solidFill>
                  <a:srgbClr val="2B6CB0"/>
                </a:solidFill>
                <a:latin typeface="Times New Roman"/>
              </a:rPr>
              <a:t>Technical Feasibility &amp; Hardware Fit</a:t>
            </a:r>
          </a:p>
          <a:p>
            <a:pPr>
              <a:spcAft>
                <a:spcPts val="200"/>
              </a:spcAft>
            </a:pPr>
            <a:r>
              <a:rPr sz="1100" b="1" i="0" dirty="0">
                <a:solidFill>
                  <a:srgbClr val="1A365D"/>
                </a:solidFill>
                <a:latin typeface="Times New Roman"/>
              </a:rPr>
              <a:t>• Hardware Compatibility:</a:t>
            </a:r>
            <a:r>
              <a:rPr sz="1100" b="0" i="0" dirty="0">
                <a:solidFill>
                  <a:srgbClr val="2D3748"/>
                </a:solidFill>
                <a:latin typeface="Times New Roman"/>
              </a:rPr>
              <a:t> Runs smoothly on low-cost entry-level Android devices (2GB RAM, Android 8.0+ / API 26+), matching existing government ASHA tablets.</a:t>
            </a:r>
          </a:p>
          <a:p>
            <a:pPr>
              <a:spcAft>
                <a:spcPts val="200"/>
              </a:spcAft>
            </a:pPr>
            <a:r>
              <a:rPr sz="1100" b="1" i="0" dirty="0">
                <a:solidFill>
                  <a:srgbClr val="1A365D"/>
                </a:solidFill>
                <a:latin typeface="Times New Roman"/>
              </a:rPr>
              <a:t>• Zero Cloud Cost for Triage:</a:t>
            </a:r>
            <a:r>
              <a:rPr sz="1100" b="0" i="0" dirty="0">
                <a:solidFill>
                  <a:srgbClr val="2D3748"/>
                </a:solidFill>
                <a:latin typeface="Times New Roman"/>
              </a:rPr>
              <a:t> On-device Google ML Kit OCR executes image inference locally without requiring mobile internet bandwidth or cloud API billing.</a:t>
            </a:r>
          </a:p>
          <a:p>
            <a:pPr>
              <a:spcAft>
                <a:spcPts val="200"/>
              </a:spcAft>
            </a:pPr>
            <a:r>
              <a:rPr sz="1100" b="1" i="0" dirty="0">
                <a:solidFill>
                  <a:srgbClr val="1A365D"/>
                </a:solidFill>
                <a:latin typeface="Times New Roman"/>
              </a:rPr>
              <a:t>• Elastic Cloud Scalability:</a:t>
            </a:r>
            <a:r>
              <a:rPr sz="1100" b="0" i="0" dirty="0">
                <a:solidFill>
                  <a:srgbClr val="2D3748"/>
                </a:solidFill>
                <a:latin typeface="Times New Roman"/>
              </a:rPr>
              <a:t> Firebase serverless architecture automatically auto-scales to handle peak morning OPD registration loads without dedicated server staff.</a:t>
            </a:r>
          </a:p>
        </p:txBody>
      </p:sp>
      <p:sp>
        <p:nvSpPr>
          <p:cNvPr id="27" name="TextBox 26"/>
          <p:cNvSpPr txBox="1"/>
          <p:nvPr/>
        </p:nvSpPr>
        <p:spPr>
          <a:xfrm>
            <a:off x="6286501" y="2002253"/>
            <a:ext cx="5461000" cy="1431161"/>
          </a:xfrm>
          <a:prstGeom prst="rect">
            <a:avLst/>
          </a:prstGeom>
          <a:noFill/>
        </p:spPr>
        <p:txBody>
          <a:bodyPr wrap="square">
            <a:spAutoFit/>
          </a:bodyPr>
          <a:lstStyle/>
          <a:p>
            <a:pPr algn="l">
              <a:spcAft>
                <a:spcPts val="200"/>
              </a:spcAft>
            </a:pPr>
            <a:r>
              <a:rPr sz="1600" b="1" i="0" dirty="0">
                <a:solidFill>
                  <a:srgbClr val="2B6CB0"/>
                </a:solidFill>
                <a:latin typeface="Times New Roman"/>
              </a:rPr>
              <a:t>Operational &amp; Clinical Workflow Fit</a:t>
            </a:r>
          </a:p>
          <a:p>
            <a:pPr>
              <a:spcAft>
                <a:spcPts val="200"/>
              </a:spcAft>
            </a:pPr>
            <a:r>
              <a:rPr sz="1100" b="1" i="0" dirty="0">
                <a:solidFill>
                  <a:srgbClr val="1A365D"/>
                </a:solidFill>
                <a:latin typeface="Times New Roman"/>
              </a:rPr>
              <a:t>• NHM Protocol Alignment:</a:t>
            </a:r>
            <a:r>
              <a:rPr sz="1100" b="0" i="0" dirty="0">
                <a:solidFill>
                  <a:srgbClr val="2D3748"/>
                </a:solidFill>
                <a:latin typeface="Times New Roman"/>
              </a:rPr>
              <a:t> Triage, maternal tracking, and referral pathways mirror existing Maharashtra Public Health Department (DHS) clinical workflows.</a:t>
            </a:r>
          </a:p>
          <a:p>
            <a:pPr>
              <a:spcAft>
                <a:spcPts val="200"/>
              </a:spcAft>
            </a:pPr>
            <a:r>
              <a:rPr sz="1100" b="1" i="0" dirty="0">
                <a:solidFill>
                  <a:srgbClr val="1A365D"/>
                </a:solidFill>
                <a:latin typeface="Times New Roman"/>
              </a:rPr>
              <a:t>• Zero-Friction ASHA Integration:</a:t>
            </a:r>
            <a:r>
              <a:rPr sz="1100" b="0" i="0" dirty="0">
                <a:solidFill>
                  <a:srgbClr val="2D3748"/>
                </a:solidFill>
                <a:latin typeface="Times New Roman"/>
              </a:rPr>
              <a:t> Dual-mode UI allows educated users to self-register while providing ASHA workers with icon-assisted proxy workflows.</a:t>
            </a:r>
          </a:p>
          <a:p>
            <a:pPr>
              <a:spcAft>
                <a:spcPts val="200"/>
              </a:spcAft>
            </a:pPr>
            <a:r>
              <a:rPr sz="1100" b="1" i="0" dirty="0">
                <a:solidFill>
                  <a:srgbClr val="1A365D"/>
                </a:solidFill>
                <a:latin typeface="Times New Roman"/>
              </a:rPr>
              <a:t>• Interoperability Standards:</a:t>
            </a:r>
            <a:r>
              <a:rPr sz="1100" b="0" i="0" dirty="0">
                <a:solidFill>
                  <a:srgbClr val="2D3748"/>
                </a:solidFill>
                <a:latin typeface="Times New Roman"/>
              </a:rPr>
              <a:t> Compliant with Ayushman Bharat Digital Mission (ABDM) Milestone 1–3 standards, enabling seamless linking with national health registries.</a:t>
            </a:r>
          </a:p>
        </p:txBody>
      </p:sp>
      <p:sp>
        <p:nvSpPr>
          <p:cNvPr id="28" name="TextBox 27"/>
          <p:cNvSpPr txBox="1"/>
          <p:nvPr/>
        </p:nvSpPr>
        <p:spPr>
          <a:xfrm>
            <a:off x="11997321" y="1993900"/>
            <a:ext cx="5461000" cy="1431161"/>
          </a:xfrm>
          <a:prstGeom prst="rect">
            <a:avLst/>
          </a:prstGeom>
          <a:noFill/>
        </p:spPr>
        <p:txBody>
          <a:bodyPr wrap="square">
            <a:spAutoFit/>
          </a:bodyPr>
          <a:lstStyle/>
          <a:p>
            <a:pPr algn="l">
              <a:spcAft>
                <a:spcPts val="200"/>
              </a:spcAft>
            </a:pPr>
            <a:r>
              <a:rPr sz="1600" b="1" i="0" dirty="0">
                <a:solidFill>
                  <a:srgbClr val="2B6CB0"/>
                </a:solidFill>
                <a:latin typeface="Times New Roman"/>
              </a:rPr>
              <a:t>Economic &amp; Regulatory Viability</a:t>
            </a:r>
          </a:p>
          <a:p>
            <a:pPr>
              <a:spcAft>
                <a:spcPts val="200"/>
              </a:spcAft>
            </a:pPr>
            <a:r>
              <a:rPr sz="1100" b="1" i="0" dirty="0">
                <a:solidFill>
                  <a:srgbClr val="1A365D"/>
                </a:solidFill>
                <a:latin typeface="Times New Roman"/>
              </a:rPr>
              <a:t>• Zero Licensing Burden:</a:t>
            </a:r>
            <a:r>
              <a:rPr sz="1100" b="0" i="0" dirty="0">
                <a:solidFill>
                  <a:srgbClr val="2D3748"/>
                </a:solidFill>
                <a:latin typeface="Times New Roman"/>
              </a:rPr>
              <a:t> Built entirely on open-source frameworks (Kotlin, SQLite, WebRTC, Jetpack), avoiding expensive proprietary commercial software lock-in.</a:t>
            </a:r>
          </a:p>
          <a:p>
            <a:pPr>
              <a:spcAft>
                <a:spcPts val="200"/>
              </a:spcAft>
            </a:pPr>
            <a:r>
              <a:rPr sz="1100" b="1" i="0" dirty="0">
                <a:solidFill>
                  <a:srgbClr val="1A365D"/>
                </a:solidFill>
                <a:latin typeface="Times New Roman"/>
              </a:rPr>
              <a:t>• Data Sovereignty &amp; Privacy:</a:t>
            </a:r>
            <a:r>
              <a:rPr sz="1100" b="0" i="0" dirty="0">
                <a:solidFill>
                  <a:srgbClr val="2D3748"/>
                </a:solidFill>
                <a:latin typeface="Times New Roman"/>
              </a:rPr>
              <a:t> Complies with the Digital Personal Data Protection (DPDP) Act 2023 and DISHA principles with local AES-256 database encryption.</a:t>
            </a:r>
          </a:p>
          <a:p>
            <a:pPr>
              <a:spcAft>
                <a:spcPts val="200"/>
              </a:spcAft>
            </a:pPr>
            <a:r>
              <a:rPr sz="1100" b="1" i="0" dirty="0">
                <a:solidFill>
                  <a:srgbClr val="1A365D"/>
                </a:solidFill>
                <a:latin typeface="Times New Roman"/>
              </a:rPr>
              <a:t>• Low Operating Expenditure:</a:t>
            </a:r>
            <a:r>
              <a:rPr sz="1100" b="0" i="0" dirty="0">
                <a:solidFill>
                  <a:srgbClr val="2D3748"/>
                </a:solidFill>
                <a:latin typeface="Times New Roman"/>
              </a:rPr>
              <a:t> Serverless pay-per-use architecture incurs near-zero idle compute costs, fitting well within state primary healthcare budgets.</a:t>
            </a:r>
          </a:p>
        </p:txBody>
      </p:sp>
      <p:sp>
        <p:nvSpPr>
          <p:cNvPr id="29" name="TextBox 28"/>
          <p:cNvSpPr txBox="1"/>
          <p:nvPr/>
        </p:nvSpPr>
        <p:spPr>
          <a:xfrm>
            <a:off x="508000" y="3372702"/>
            <a:ext cx="8906541" cy="400110"/>
          </a:xfrm>
          <a:prstGeom prst="rect">
            <a:avLst/>
          </a:prstGeom>
          <a:noFill/>
        </p:spPr>
        <p:txBody>
          <a:bodyPr wrap="none">
            <a:spAutoFit/>
          </a:bodyPr>
          <a:lstStyle/>
          <a:p>
            <a:pPr algn="l">
              <a:spcAft>
                <a:spcPts val="200"/>
              </a:spcAft>
            </a:pPr>
            <a:r>
              <a:rPr sz="2000" b="1" i="0" dirty="0">
                <a:solidFill>
                  <a:srgbClr val="1A365D"/>
                </a:solidFill>
                <a:latin typeface="Times New Roman"/>
              </a:rPr>
              <a:t>Technical Risk Matrix &amp; Engineered Mitigation Strategies (Viability Validation</a:t>
            </a:r>
            <a:r>
              <a:rPr sz="1250" b="1" i="0" dirty="0">
                <a:solidFill>
                  <a:srgbClr val="1A365D"/>
                </a:solidFill>
                <a:latin typeface="Times New Roman"/>
              </a:rPr>
              <a:t>)</a:t>
            </a:r>
          </a:p>
        </p:txBody>
      </p:sp>
      <p:graphicFrame>
        <p:nvGraphicFramePr>
          <p:cNvPr id="30" name="Table 29"/>
          <p:cNvGraphicFramePr>
            <a:graphicFrameLocks noGrp="1"/>
          </p:cNvGraphicFramePr>
          <p:nvPr>
            <p:extLst>
              <p:ext uri="{D42A27DB-BD31-4B8C-83A1-F6EECF244321}">
                <p14:modId xmlns:p14="http://schemas.microsoft.com/office/powerpoint/2010/main" val="503911573"/>
              </p:ext>
            </p:extLst>
          </p:nvPr>
        </p:nvGraphicFramePr>
        <p:xfrm>
          <a:off x="508000" y="3784600"/>
          <a:ext cx="17271998" cy="3810000"/>
        </p:xfrm>
        <a:graphic>
          <a:graphicData uri="http://schemas.openxmlformats.org/drawingml/2006/table">
            <a:tbl>
              <a:tblPr firstRow="1" bandRow="1">
                <a:tableStyleId>{5C22544A-7EE6-4342-B048-85BDC9FD1C3A}</a:tableStyleId>
              </a:tblPr>
              <a:tblGrid>
                <a:gridCol w="2793999">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4127500">
                  <a:extLst>
                    <a:ext uri="{9D8B030D-6E8A-4147-A177-3AD203B41FA5}">
                      <a16:colId xmlns:a16="http://schemas.microsoft.com/office/drawing/2014/main" val="20002"/>
                    </a:ext>
                  </a:extLst>
                </a:gridCol>
                <a:gridCol w="8762999">
                  <a:extLst>
                    <a:ext uri="{9D8B030D-6E8A-4147-A177-3AD203B41FA5}">
                      <a16:colId xmlns:a16="http://schemas.microsoft.com/office/drawing/2014/main" val="20003"/>
                    </a:ext>
                  </a:extLst>
                </a:gridCol>
              </a:tblGrid>
              <a:tr h="544285">
                <a:tc>
                  <a:txBody>
                    <a:bodyPr/>
                    <a:lstStyle/>
                    <a:p>
                      <a:pPr algn="ctr"/>
                      <a:r>
                        <a:rPr sz="950" b="1">
                          <a:solidFill>
                            <a:srgbClr val="FFFFFF"/>
                          </a:solidFill>
                          <a:latin typeface="Times New Roman"/>
                        </a:rPr>
                        <a:t>Identified Risk &amp; Challenge</a:t>
                      </a:r>
                    </a:p>
                  </a:txBody>
                  <a:tcPr marL="63500" marR="63500" marT="38100" marB="38100" anchor="ctr">
                    <a:solidFill>
                      <a:srgbClr val="1A365D"/>
                    </a:solidFill>
                  </a:tcPr>
                </a:tc>
                <a:tc>
                  <a:txBody>
                    <a:bodyPr/>
                    <a:lstStyle/>
                    <a:p>
                      <a:pPr algn="ctr"/>
                      <a:r>
                        <a:rPr sz="950" b="1">
                          <a:solidFill>
                            <a:srgbClr val="FFFFFF"/>
                          </a:solidFill>
                          <a:latin typeface="Times New Roman"/>
                        </a:rPr>
                        <a:t>Severity &amp; Impact</a:t>
                      </a:r>
                    </a:p>
                  </a:txBody>
                  <a:tcPr marL="63500" marR="63500" marT="38100" marB="38100" anchor="ctr">
                    <a:solidFill>
                      <a:srgbClr val="1A365D"/>
                    </a:solidFill>
                  </a:tcPr>
                </a:tc>
                <a:tc>
                  <a:txBody>
                    <a:bodyPr/>
                    <a:lstStyle/>
                    <a:p>
                      <a:pPr algn="ctr"/>
                      <a:r>
                        <a:rPr sz="950" b="1" dirty="0">
                          <a:solidFill>
                            <a:srgbClr val="FFFFFF"/>
                          </a:solidFill>
                          <a:latin typeface="Times New Roman"/>
                        </a:rPr>
                        <a:t>Root Failure Cause</a:t>
                      </a:r>
                    </a:p>
                  </a:txBody>
                  <a:tcPr marL="63500" marR="63500" marT="38100" marB="38100" anchor="ctr">
                    <a:solidFill>
                      <a:srgbClr val="1A365D"/>
                    </a:solidFill>
                  </a:tcPr>
                </a:tc>
                <a:tc>
                  <a:txBody>
                    <a:bodyPr/>
                    <a:lstStyle/>
                    <a:p>
                      <a:pPr algn="ctr"/>
                      <a:r>
                        <a:rPr sz="950" b="1" dirty="0">
                          <a:solidFill>
                            <a:srgbClr val="FFFFFF"/>
                          </a:solidFill>
                          <a:latin typeface="Times New Roman"/>
                        </a:rPr>
                        <a:t>Engineered Architectural Mitigation in </a:t>
                      </a:r>
                      <a:r>
                        <a:rPr sz="950" b="1" dirty="0" err="1">
                          <a:solidFill>
                            <a:srgbClr val="FFFFFF"/>
                          </a:solidFill>
                          <a:latin typeface="Times New Roman"/>
                        </a:rPr>
                        <a:t>VitalSense</a:t>
                      </a:r>
                      <a:endParaRPr sz="950" b="1" dirty="0">
                        <a:solidFill>
                          <a:srgbClr val="FFFFFF"/>
                        </a:solidFill>
                        <a:latin typeface="Times New Roman"/>
                      </a:endParaRPr>
                    </a:p>
                  </a:txBody>
                  <a:tcPr marL="63500" marR="63500" marT="38100" marB="38100" anchor="ctr">
                    <a:solidFill>
                      <a:srgbClr val="1A365D"/>
                    </a:solidFill>
                  </a:tcPr>
                </a:tc>
                <a:extLst>
                  <a:ext uri="{0D108BD9-81ED-4DB2-BD59-A6C34878D82A}">
                    <a16:rowId xmlns:a16="http://schemas.microsoft.com/office/drawing/2014/main" val="10000"/>
                  </a:ext>
                </a:extLst>
              </a:tr>
              <a:tr h="544285">
                <a:tc>
                  <a:txBody>
                    <a:bodyPr/>
                    <a:lstStyle/>
                    <a:p>
                      <a:pPr algn="l"/>
                      <a:r>
                        <a:rPr sz="850" b="1">
                          <a:solidFill>
                            <a:srgbClr val="1A365D"/>
                          </a:solidFill>
                          <a:latin typeface="Times New Roman"/>
                        </a:rPr>
                        <a:t>1. OCR Prescription Errors</a:t>
                      </a:r>
                    </a:p>
                  </a:txBody>
                  <a:tcPr marL="63500" marR="63500" marT="38100" marB="38100" anchor="ctr">
                    <a:solidFill>
                      <a:srgbClr val="FFFFFF"/>
                    </a:solidFill>
                  </a:tcPr>
                </a:tc>
                <a:tc>
                  <a:txBody>
                    <a:bodyPr/>
                    <a:lstStyle/>
                    <a:p>
                      <a:pPr algn="ctr"/>
                      <a:r>
                        <a:rPr sz="800" b="1">
                          <a:solidFill>
                            <a:srgbClr val="C05621"/>
                          </a:solidFill>
                          <a:latin typeface="Times New Roman"/>
                        </a:rPr>
                        <a:t>High</a:t>
                      </a:r>
                      <a:br/>
                      <a:r>
                        <a:rPr sz="800" b="1">
                          <a:solidFill>
                            <a:srgbClr val="C05621"/>
                          </a:solidFill>
                          <a:latin typeface="Times New Roman"/>
                        </a:rPr>
                        <a:t>(Clinical Error)</a:t>
                      </a:r>
                    </a:p>
                  </a:txBody>
                  <a:tcPr marL="63500" marR="63500" marT="38100" marB="38100" anchor="ctr">
                    <a:solidFill>
                      <a:srgbClr val="FFFFFF"/>
                    </a:solidFill>
                  </a:tcPr>
                </a:tc>
                <a:tc>
                  <a:txBody>
                    <a:bodyPr/>
                    <a:lstStyle/>
                    <a:p>
                      <a:pPr algn="l"/>
                      <a:r>
                        <a:rPr sz="800" b="0">
                          <a:solidFill>
                            <a:srgbClr val="2D3748"/>
                          </a:solidFill>
                          <a:latin typeface="Times New Roman"/>
                        </a:rPr>
                        <a:t>Poor camera focus, wrinkled slips, and illegible doctor handwriting.</a:t>
                      </a:r>
                    </a:p>
                  </a:txBody>
                  <a:tcPr marL="63500" marR="63500" marT="38100" marB="38100" anchor="ctr">
                    <a:solidFill>
                      <a:srgbClr val="FFFFFF"/>
                    </a:solidFill>
                  </a:tcPr>
                </a:tc>
                <a:tc>
                  <a:txBody>
                    <a:bodyPr/>
                    <a:lstStyle/>
                    <a:p>
                      <a:pPr algn="l"/>
                      <a:r>
                        <a:rPr sz="800" b="0">
                          <a:solidFill>
                            <a:srgbClr val="2D3748"/>
                          </a:solidFill>
                          <a:latin typeface="Times New Roman"/>
                        </a:rPr>
                        <a:t>On-device confidence score thresholding (&lt;85% flagged for manual confirmation); mandatory doctor/pharmacist digital sign-off; original prescription scan permanently attached to patient record.</a:t>
                      </a:r>
                    </a:p>
                  </a:txBody>
                  <a:tcPr marL="63500" marR="63500" marT="38100" marB="38100" anchor="ctr">
                    <a:solidFill>
                      <a:srgbClr val="FFFFFF"/>
                    </a:solidFill>
                  </a:tcPr>
                </a:tc>
                <a:extLst>
                  <a:ext uri="{0D108BD9-81ED-4DB2-BD59-A6C34878D82A}">
                    <a16:rowId xmlns:a16="http://schemas.microsoft.com/office/drawing/2014/main" val="10001"/>
                  </a:ext>
                </a:extLst>
              </a:tr>
              <a:tr h="544285">
                <a:tc>
                  <a:txBody>
                    <a:bodyPr/>
                    <a:lstStyle/>
                    <a:p>
                      <a:pPr algn="l"/>
                      <a:r>
                        <a:rPr sz="850" b="1">
                          <a:solidFill>
                            <a:srgbClr val="1A365D"/>
                          </a:solidFill>
                          <a:latin typeface="Times New Roman"/>
                        </a:rPr>
                        <a:t>2. Poor Rural Connectivity</a:t>
                      </a:r>
                    </a:p>
                  </a:txBody>
                  <a:tcPr marL="63500" marR="63500" marT="38100" marB="38100" anchor="ctr">
                    <a:solidFill>
                      <a:srgbClr val="F8FAFC"/>
                    </a:solidFill>
                  </a:tcPr>
                </a:tc>
                <a:tc>
                  <a:txBody>
                    <a:bodyPr/>
                    <a:lstStyle/>
                    <a:p>
                      <a:pPr algn="ctr"/>
                      <a:r>
                        <a:rPr sz="800" b="1">
                          <a:solidFill>
                            <a:srgbClr val="C05621"/>
                          </a:solidFill>
                          <a:latin typeface="Times New Roman"/>
                        </a:rPr>
                        <a:t>High</a:t>
                      </a:r>
                      <a:br/>
                      <a:r>
                        <a:rPr sz="800" b="1">
                          <a:solidFill>
                            <a:srgbClr val="C05621"/>
                          </a:solidFill>
                          <a:latin typeface="Times New Roman"/>
                        </a:rPr>
                        <a:t>(Service Outage)</a:t>
                      </a:r>
                    </a:p>
                  </a:txBody>
                  <a:tcPr marL="63500" marR="63500" marT="38100" marB="38100" anchor="ctr">
                    <a:solidFill>
                      <a:srgbClr val="F8FAFC"/>
                    </a:solidFill>
                  </a:tcPr>
                </a:tc>
                <a:tc>
                  <a:txBody>
                    <a:bodyPr/>
                    <a:lstStyle/>
                    <a:p>
                      <a:pPr algn="l"/>
                      <a:r>
                        <a:rPr sz="800" b="0">
                          <a:solidFill>
                            <a:srgbClr val="2D3748"/>
                          </a:solidFill>
                          <a:latin typeface="Times New Roman"/>
                        </a:rPr>
                        <a:t>Unstable 2G/3G network towers and remote rural dead zones.</a:t>
                      </a:r>
                    </a:p>
                  </a:txBody>
                  <a:tcPr marL="63500" marR="63500" marT="38100" marB="38100" anchor="ctr">
                    <a:solidFill>
                      <a:srgbClr val="F8FAFC"/>
                    </a:solidFill>
                  </a:tcPr>
                </a:tc>
                <a:tc>
                  <a:txBody>
                    <a:bodyPr/>
                    <a:lstStyle/>
                    <a:p>
                      <a:pPr algn="l"/>
                      <a:r>
                        <a:rPr sz="800" b="0">
                          <a:solidFill>
                            <a:srgbClr val="2D3748"/>
                          </a:solidFill>
                          <a:latin typeface="Times New Roman"/>
                        </a:rPr>
                        <a:t>Local-first Room SQLite persistent database with Transactional Outbox pattern; mutations committed locally and synced via WorkManager background retry queues with exponential backoff.</a:t>
                      </a:r>
                    </a:p>
                  </a:txBody>
                  <a:tcPr marL="63500" marR="63500" marT="38100" marB="38100" anchor="ctr">
                    <a:solidFill>
                      <a:srgbClr val="F8FAFC"/>
                    </a:solidFill>
                  </a:tcPr>
                </a:tc>
                <a:extLst>
                  <a:ext uri="{0D108BD9-81ED-4DB2-BD59-A6C34878D82A}">
                    <a16:rowId xmlns:a16="http://schemas.microsoft.com/office/drawing/2014/main" val="10002"/>
                  </a:ext>
                </a:extLst>
              </a:tr>
              <a:tr h="544285">
                <a:tc>
                  <a:txBody>
                    <a:bodyPr/>
                    <a:lstStyle/>
                    <a:p>
                      <a:pPr algn="l"/>
                      <a:r>
                        <a:rPr sz="850" b="1">
                          <a:solidFill>
                            <a:srgbClr val="1A365D"/>
                          </a:solidFill>
                          <a:latin typeface="Times New Roman"/>
                        </a:rPr>
                        <a:t>3. Emergency in Zero Network</a:t>
                      </a:r>
                    </a:p>
                  </a:txBody>
                  <a:tcPr marL="63500" marR="63500" marT="38100" marB="38100" anchor="ctr">
                    <a:solidFill>
                      <a:srgbClr val="FFFFFF"/>
                    </a:solidFill>
                  </a:tcPr>
                </a:tc>
                <a:tc>
                  <a:txBody>
                    <a:bodyPr/>
                    <a:lstStyle/>
                    <a:p>
                      <a:pPr algn="ctr"/>
                      <a:r>
                        <a:rPr sz="800" b="1">
                          <a:solidFill>
                            <a:srgbClr val="C05621"/>
                          </a:solidFill>
                          <a:latin typeface="Times New Roman"/>
                        </a:rPr>
                        <a:t>Critical</a:t>
                      </a:r>
                      <a:br/>
                      <a:r>
                        <a:rPr sz="800" b="1">
                          <a:solidFill>
                            <a:srgbClr val="C05621"/>
                          </a:solidFill>
                          <a:latin typeface="Times New Roman"/>
                        </a:rPr>
                        <a:t>(Life Safety)</a:t>
                      </a:r>
                    </a:p>
                  </a:txBody>
                  <a:tcPr marL="63500" marR="63500" marT="38100" marB="38100" anchor="ctr">
                    <a:solidFill>
                      <a:srgbClr val="FFFFFF"/>
                    </a:solidFill>
                  </a:tcPr>
                </a:tc>
                <a:tc>
                  <a:txBody>
                    <a:bodyPr/>
                    <a:lstStyle/>
                    <a:p>
                      <a:pPr algn="l"/>
                      <a:r>
                        <a:rPr sz="800" b="0">
                          <a:solidFill>
                            <a:srgbClr val="2D3748"/>
                          </a:solidFill>
                          <a:latin typeface="Times New Roman"/>
                        </a:rPr>
                        <a:t>Complete lack of mobile internet data during acute trauma/obstetric events.</a:t>
                      </a:r>
                    </a:p>
                  </a:txBody>
                  <a:tcPr marL="63500" marR="63500" marT="38100" marB="38100" anchor="ctr">
                    <a:solidFill>
                      <a:srgbClr val="FFFFFF"/>
                    </a:solidFill>
                  </a:tcPr>
                </a:tc>
                <a:tc>
                  <a:txBody>
                    <a:bodyPr/>
                    <a:lstStyle/>
                    <a:p>
                      <a:pPr algn="l"/>
                      <a:r>
                        <a:rPr sz="800" b="0">
                          <a:solidFill>
                            <a:srgbClr val="2D3748"/>
                          </a:solidFill>
                          <a:latin typeface="Times New Roman"/>
                        </a:rPr>
                        <a:t>Dual-channel emergency fallback: if IP transmission fails within 5 seconds, the application automatically constructs and dispatches an encrypted cellular SMS containing GPS coordinates to 108 and the PHC.</a:t>
                      </a:r>
                    </a:p>
                  </a:txBody>
                  <a:tcPr marL="63500" marR="63500" marT="38100" marB="38100" anchor="ctr">
                    <a:solidFill>
                      <a:srgbClr val="FFFFFF"/>
                    </a:solidFill>
                  </a:tcPr>
                </a:tc>
                <a:extLst>
                  <a:ext uri="{0D108BD9-81ED-4DB2-BD59-A6C34878D82A}">
                    <a16:rowId xmlns:a16="http://schemas.microsoft.com/office/drawing/2014/main" val="10003"/>
                  </a:ext>
                </a:extLst>
              </a:tr>
              <a:tr h="544285">
                <a:tc>
                  <a:txBody>
                    <a:bodyPr/>
                    <a:lstStyle/>
                    <a:p>
                      <a:pPr algn="l"/>
                      <a:r>
                        <a:rPr sz="850" b="1">
                          <a:solidFill>
                            <a:srgbClr val="1A365D"/>
                          </a:solidFill>
                          <a:latin typeface="Times New Roman"/>
                        </a:rPr>
                        <a:t>4. Data Privacy &amp; Intermediary Misuse</a:t>
                      </a:r>
                    </a:p>
                  </a:txBody>
                  <a:tcPr marL="63500" marR="63500" marT="38100" marB="38100" anchor="ctr">
                    <a:solidFill>
                      <a:srgbClr val="F8FAFC"/>
                    </a:solidFill>
                  </a:tcPr>
                </a:tc>
                <a:tc>
                  <a:txBody>
                    <a:bodyPr/>
                    <a:lstStyle/>
                    <a:p>
                      <a:pPr algn="ctr"/>
                      <a:r>
                        <a:rPr sz="800" b="1">
                          <a:solidFill>
                            <a:srgbClr val="C05621"/>
                          </a:solidFill>
                          <a:latin typeface="Times New Roman"/>
                        </a:rPr>
                        <a:t>High</a:t>
                      </a:r>
                      <a:br/>
                      <a:r>
                        <a:rPr sz="800" b="1">
                          <a:solidFill>
                            <a:srgbClr val="C05621"/>
                          </a:solidFill>
                          <a:latin typeface="Times New Roman"/>
                        </a:rPr>
                        <a:t>(Data Breach)</a:t>
                      </a:r>
                    </a:p>
                  </a:txBody>
                  <a:tcPr marL="63500" marR="63500" marT="38100" marB="38100" anchor="ctr">
                    <a:solidFill>
                      <a:srgbClr val="F8FAFC"/>
                    </a:solidFill>
                  </a:tcPr>
                </a:tc>
                <a:tc>
                  <a:txBody>
                    <a:bodyPr/>
                    <a:lstStyle/>
                    <a:p>
                      <a:pPr algn="l"/>
                      <a:r>
                        <a:rPr sz="800" b="0">
                          <a:solidFill>
                            <a:srgbClr val="2D3748"/>
                          </a:solidFill>
                          <a:latin typeface="Times New Roman"/>
                        </a:rPr>
                        <a:t>Shared ASHA tablet devices and unauthorized access to medical records.</a:t>
                      </a:r>
                    </a:p>
                  </a:txBody>
                  <a:tcPr marL="63500" marR="63500" marT="38100" marB="38100" anchor="ctr">
                    <a:solidFill>
                      <a:srgbClr val="F8FAFC"/>
                    </a:solidFill>
                  </a:tcPr>
                </a:tc>
                <a:tc>
                  <a:txBody>
                    <a:bodyPr/>
                    <a:lstStyle/>
                    <a:p>
                      <a:pPr algn="l"/>
                      <a:r>
                        <a:rPr sz="800" b="0">
                          <a:solidFill>
                            <a:srgbClr val="2D3748"/>
                          </a:solidFill>
                          <a:latin typeface="Times New Roman"/>
                        </a:rPr>
                        <a:t>Local SQLite database encryption using SQLCipher (AES-256); Firebase granular Role-Based Access Control (RBAC); ABDM-compliant electronic consent flow before sharing longitudinal medical records.</a:t>
                      </a:r>
                    </a:p>
                  </a:txBody>
                  <a:tcPr marL="63500" marR="63500" marT="38100" marB="38100" anchor="ctr">
                    <a:solidFill>
                      <a:srgbClr val="F8FAFC"/>
                    </a:solidFill>
                  </a:tcPr>
                </a:tc>
                <a:extLst>
                  <a:ext uri="{0D108BD9-81ED-4DB2-BD59-A6C34878D82A}">
                    <a16:rowId xmlns:a16="http://schemas.microsoft.com/office/drawing/2014/main" val="10004"/>
                  </a:ext>
                </a:extLst>
              </a:tr>
              <a:tr h="544285">
                <a:tc>
                  <a:txBody>
                    <a:bodyPr/>
                    <a:lstStyle/>
                    <a:p>
                      <a:pPr algn="l"/>
                      <a:r>
                        <a:rPr sz="850" b="1">
                          <a:solidFill>
                            <a:srgbClr val="1A365D"/>
                          </a:solidFill>
                          <a:latin typeface="Times New Roman"/>
                        </a:rPr>
                        <a:t>5. Low Digital Literacy</a:t>
                      </a:r>
                    </a:p>
                  </a:txBody>
                  <a:tcPr marL="63500" marR="63500" marT="38100" marB="38100" anchor="ctr">
                    <a:solidFill>
                      <a:srgbClr val="FFFFFF"/>
                    </a:solidFill>
                  </a:tcPr>
                </a:tc>
                <a:tc>
                  <a:txBody>
                    <a:bodyPr/>
                    <a:lstStyle/>
                    <a:p>
                      <a:pPr algn="ctr"/>
                      <a:r>
                        <a:rPr sz="800" b="1">
                          <a:solidFill>
                            <a:srgbClr val="2B6CB0"/>
                          </a:solidFill>
                          <a:latin typeface="Times New Roman"/>
                        </a:rPr>
                        <a:t>Medium</a:t>
                      </a:r>
                      <a:br/>
                      <a:r>
                        <a:rPr sz="800" b="1">
                          <a:solidFill>
                            <a:srgbClr val="2B6CB0"/>
                          </a:solidFill>
                          <a:latin typeface="Times New Roman"/>
                        </a:rPr>
                        <a:t>(Low Adoption)</a:t>
                      </a:r>
                    </a:p>
                  </a:txBody>
                  <a:tcPr marL="63500" marR="63500" marT="38100" marB="38100" anchor="ctr">
                    <a:solidFill>
                      <a:srgbClr val="FFFFFF"/>
                    </a:solidFill>
                  </a:tcPr>
                </a:tc>
                <a:tc>
                  <a:txBody>
                    <a:bodyPr/>
                    <a:lstStyle/>
                    <a:p>
                      <a:pPr algn="l"/>
                      <a:r>
                        <a:rPr sz="800" b="0">
                          <a:solidFill>
                            <a:srgbClr val="2D3748"/>
                          </a:solidFill>
                          <a:latin typeface="Times New Roman"/>
                        </a:rPr>
                        <a:t>Complex multi-tier UI layouts and English technical medical terminology.</a:t>
                      </a:r>
                    </a:p>
                  </a:txBody>
                  <a:tcPr marL="63500" marR="63500" marT="38100" marB="38100" anchor="ctr">
                    <a:solidFill>
                      <a:srgbClr val="FFFFFF"/>
                    </a:solidFill>
                  </a:tcPr>
                </a:tc>
                <a:tc>
                  <a:txBody>
                    <a:bodyPr/>
                    <a:lstStyle/>
                    <a:p>
                      <a:pPr algn="l"/>
                      <a:r>
                        <a:rPr sz="800" b="0">
                          <a:solidFill>
                            <a:srgbClr val="2D3748"/>
                          </a:solidFill>
                          <a:latin typeface="Times New Roman"/>
                        </a:rPr>
                        <a:t>Multilingual vernacular localisation (Marathi, Hindi, English); high-contrast icon-driven workflows; audio-guided prompts; dedicated ASHA-assisted proxy workflow for illiterate citizens.</a:t>
                      </a:r>
                    </a:p>
                  </a:txBody>
                  <a:tcPr marL="63500" marR="63500" marT="38100" marB="38100" anchor="ctr">
                    <a:solidFill>
                      <a:srgbClr val="FFFFFF"/>
                    </a:solidFill>
                  </a:tcPr>
                </a:tc>
                <a:extLst>
                  <a:ext uri="{0D108BD9-81ED-4DB2-BD59-A6C34878D82A}">
                    <a16:rowId xmlns:a16="http://schemas.microsoft.com/office/drawing/2014/main" val="10005"/>
                  </a:ext>
                </a:extLst>
              </a:tr>
              <a:tr h="544290">
                <a:tc>
                  <a:txBody>
                    <a:bodyPr/>
                    <a:lstStyle/>
                    <a:p>
                      <a:pPr algn="l"/>
                      <a:r>
                        <a:rPr sz="850" b="1">
                          <a:solidFill>
                            <a:srgbClr val="1A365D"/>
                          </a:solidFill>
                          <a:latin typeface="Times New Roman"/>
                        </a:rPr>
                        <a:t>6. Limited Outbreak Data</a:t>
                      </a:r>
                    </a:p>
                  </a:txBody>
                  <a:tcPr marL="63500" marR="63500" marT="38100" marB="38100" anchor="ctr">
                    <a:solidFill>
                      <a:srgbClr val="F8FAFC"/>
                    </a:solidFill>
                  </a:tcPr>
                </a:tc>
                <a:tc>
                  <a:txBody>
                    <a:bodyPr/>
                    <a:lstStyle/>
                    <a:p>
                      <a:pPr algn="ctr"/>
                      <a:r>
                        <a:rPr sz="800" b="1">
                          <a:solidFill>
                            <a:srgbClr val="2B6CB0"/>
                          </a:solidFill>
                          <a:latin typeface="Times New Roman"/>
                        </a:rPr>
                        <a:t>Medium</a:t>
                      </a:r>
                      <a:br/>
                      <a:r>
                        <a:rPr sz="800" b="1">
                          <a:solidFill>
                            <a:srgbClr val="2B6CB0"/>
                          </a:solidFill>
                          <a:latin typeface="Times New Roman"/>
                        </a:rPr>
                        <a:t>(Delayed Action)</a:t>
                      </a:r>
                    </a:p>
                  </a:txBody>
                  <a:tcPr marL="63500" marR="63500" marT="38100" marB="38100" anchor="ctr">
                    <a:solidFill>
                      <a:srgbClr val="F8FAFC"/>
                    </a:solidFill>
                  </a:tcPr>
                </a:tc>
                <a:tc>
                  <a:txBody>
                    <a:bodyPr/>
                    <a:lstStyle/>
                    <a:p>
                      <a:pPr algn="l"/>
                      <a:r>
                        <a:rPr sz="800" b="0" dirty="0">
                          <a:solidFill>
                            <a:srgbClr val="2D3748"/>
                          </a:solidFill>
                          <a:latin typeface="Times New Roman"/>
                        </a:rPr>
                        <a:t>Batch-delayed or incomplete manual paperwork masking early epidemic clusters.</a:t>
                      </a:r>
                    </a:p>
                  </a:txBody>
                  <a:tcPr marL="63500" marR="63500" marT="38100" marB="38100" anchor="ctr">
                    <a:solidFill>
                      <a:srgbClr val="F8FAFC"/>
                    </a:solidFill>
                  </a:tcPr>
                </a:tc>
                <a:tc>
                  <a:txBody>
                    <a:bodyPr/>
                    <a:lstStyle/>
                    <a:p>
                      <a:pPr algn="l"/>
                      <a:r>
                        <a:rPr sz="800" b="0" dirty="0">
                          <a:solidFill>
                            <a:srgbClr val="2D3748"/>
                          </a:solidFill>
                          <a:latin typeface="Times New Roman"/>
                        </a:rPr>
                        <a:t>Automated syndromic case tallying at point of care; automated geospatial spatial-temporal clustering (DBSCAN); push notifications sent to Taluka Health Officers upon exceeding statistical thresholds.</a:t>
                      </a:r>
                    </a:p>
                  </a:txBody>
                  <a:tcPr marL="63500" marR="63500" marT="38100" marB="38100" anchor="ctr">
                    <a:solidFill>
                      <a:srgbClr val="F8FAFC"/>
                    </a:solidFill>
                  </a:tcPr>
                </a:tc>
                <a:extLst>
                  <a:ext uri="{0D108BD9-81ED-4DB2-BD59-A6C34878D82A}">
                    <a16:rowId xmlns:a16="http://schemas.microsoft.com/office/drawing/2014/main" val="10006"/>
                  </a:ext>
                </a:extLst>
              </a:tr>
            </a:tbl>
          </a:graphicData>
        </a:graphic>
      </p:graphicFrame>
      <p:sp>
        <p:nvSpPr>
          <p:cNvPr id="31" name="Rectangle 30"/>
          <p:cNvSpPr/>
          <p:nvPr/>
        </p:nvSpPr>
        <p:spPr>
          <a:xfrm>
            <a:off x="508000" y="7747000"/>
            <a:ext cx="17272000" cy="17145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8500" y="7785100"/>
            <a:ext cx="10569560" cy="461665"/>
          </a:xfrm>
          <a:prstGeom prst="rect">
            <a:avLst/>
          </a:prstGeom>
          <a:noFill/>
        </p:spPr>
        <p:txBody>
          <a:bodyPr wrap="none">
            <a:spAutoFit/>
          </a:bodyPr>
          <a:lstStyle/>
          <a:p>
            <a:pPr algn="l">
              <a:spcAft>
                <a:spcPts val="200"/>
              </a:spcAft>
            </a:pPr>
            <a:r>
              <a:rPr lang="en-US" sz="2400" b="1" i="0" dirty="0">
                <a:solidFill>
                  <a:srgbClr val="1A365D"/>
                </a:solidFill>
                <a:latin typeface="Times New Roman"/>
              </a:rPr>
              <a:t>Scalability, Public Health Deployment &amp; Government Sustainability Road map</a:t>
            </a:r>
            <a:endParaRPr sz="2400" b="1" i="0" dirty="0">
              <a:solidFill>
                <a:srgbClr val="1A365D"/>
              </a:solidFill>
              <a:latin typeface="Times New Roman"/>
            </a:endParaRPr>
          </a:p>
        </p:txBody>
      </p:sp>
      <p:sp>
        <p:nvSpPr>
          <p:cNvPr id="33" name="TextBox 32"/>
          <p:cNvSpPr txBox="1"/>
          <p:nvPr/>
        </p:nvSpPr>
        <p:spPr>
          <a:xfrm>
            <a:off x="698500" y="8241647"/>
            <a:ext cx="4000500" cy="1133644"/>
          </a:xfrm>
          <a:prstGeom prst="rect">
            <a:avLst/>
          </a:prstGeom>
          <a:noFill/>
        </p:spPr>
        <p:txBody>
          <a:bodyPr wrap="square">
            <a:spAutoFit/>
          </a:bodyPr>
          <a:lstStyle/>
          <a:p>
            <a:pPr algn="l">
              <a:spcAft>
                <a:spcPts val="200"/>
              </a:spcAft>
            </a:pPr>
            <a:r>
              <a:rPr b="1" i="0" dirty="0">
                <a:solidFill>
                  <a:srgbClr val="2B6CB0"/>
                </a:solidFill>
                <a:latin typeface="Times New Roman"/>
              </a:rPr>
              <a:t>Administrative Tier Alignment</a:t>
            </a:r>
          </a:p>
          <a:p>
            <a:pPr algn="l">
              <a:spcAft>
                <a:spcPts val="200"/>
              </a:spcAft>
            </a:pPr>
            <a:r>
              <a:rPr sz="1200" b="0" i="0" dirty="0">
                <a:solidFill>
                  <a:srgbClr val="2D3748"/>
                </a:solidFill>
                <a:latin typeface="Times New Roman"/>
              </a:rPr>
              <a:t>Fully compatible with the 4-tier public health hierarchy of Maharashtra: Sub-Centre (ASHA/ANM) -&gt; Primary Health Centre (Medical Officer) -&gt; Community Health Centre (Specialists) -&gt; District Hospital (Tertiary Referral).</a:t>
            </a:r>
          </a:p>
        </p:txBody>
      </p:sp>
      <p:sp>
        <p:nvSpPr>
          <p:cNvPr id="34" name="TextBox 33"/>
          <p:cNvSpPr txBox="1"/>
          <p:nvPr/>
        </p:nvSpPr>
        <p:spPr>
          <a:xfrm>
            <a:off x="4889500" y="8253054"/>
            <a:ext cx="4000500" cy="1133644"/>
          </a:xfrm>
          <a:prstGeom prst="rect">
            <a:avLst/>
          </a:prstGeom>
          <a:noFill/>
        </p:spPr>
        <p:txBody>
          <a:bodyPr wrap="square">
            <a:spAutoFit/>
          </a:bodyPr>
          <a:lstStyle/>
          <a:p>
            <a:pPr algn="l">
              <a:spcAft>
                <a:spcPts val="200"/>
              </a:spcAft>
            </a:pPr>
            <a:r>
              <a:rPr b="1" i="0" dirty="0">
                <a:solidFill>
                  <a:srgbClr val="2B6CB0"/>
                </a:solidFill>
                <a:latin typeface="Times New Roman"/>
              </a:rPr>
              <a:t>Infrastructure Cost Efficiency</a:t>
            </a:r>
          </a:p>
          <a:p>
            <a:pPr algn="l">
              <a:spcAft>
                <a:spcPts val="200"/>
              </a:spcAft>
            </a:pPr>
            <a:r>
              <a:rPr sz="1200" b="0" i="0" dirty="0">
                <a:solidFill>
                  <a:srgbClr val="2D3748"/>
                </a:solidFill>
                <a:latin typeface="Times New Roman"/>
              </a:rPr>
              <a:t>Pay-as-you-go serverless backend incurs zero idle compute costs; local-first processing reduces mobile internet bandwidth demand by &gt;75% compared to conventional web dashboards.</a:t>
            </a:r>
          </a:p>
        </p:txBody>
      </p:sp>
      <p:sp>
        <p:nvSpPr>
          <p:cNvPr id="35" name="TextBox 34"/>
          <p:cNvSpPr txBox="1"/>
          <p:nvPr/>
        </p:nvSpPr>
        <p:spPr>
          <a:xfrm>
            <a:off x="9085049" y="8277472"/>
            <a:ext cx="4000500" cy="1133644"/>
          </a:xfrm>
          <a:prstGeom prst="rect">
            <a:avLst/>
          </a:prstGeom>
          <a:noFill/>
        </p:spPr>
        <p:txBody>
          <a:bodyPr wrap="square">
            <a:spAutoFit/>
          </a:bodyPr>
          <a:lstStyle/>
          <a:p>
            <a:pPr algn="l">
              <a:spcAft>
                <a:spcPts val="200"/>
              </a:spcAft>
            </a:pPr>
            <a:r>
              <a:rPr b="1" i="0" dirty="0">
                <a:solidFill>
                  <a:srgbClr val="2B6CB0"/>
                </a:solidFill>
                <a:latin typeface="Times New Roman"/>
              </a:rPr>
              <a:t>Deployment Road map</a:t>
            </a:r>
          </a:p>
          <a:p>
            <a:pPr algn="l">
              <a:spcAft>
                <a:spcPts val="200"/>
              </a:spcAft>
            </a:pPr>
            <a:r>
              <a:rPr sz="1200" b="0" i="0" dirty="0">
                <a:solidFill>
                  <a:srgbClr val="2D3748"/>
                </a:solidFill>
                <a:latin typeface="Times New Roman"/>
              </a:rPr>
              <a:t>Phase 1: Pilot validation across 10 rural PHCs and 50 Sub-</a:t>
            </a:r>
            <a:r>
              <a:rPr sz="1200" b="0" i="0" dirty="0" err="1">
                <a:solidFill>
                  <a:srgbClr val="2D3748"/>
                </a:solidFill>
                <a:latin typeface="Times New Roman"/>
              </a:rPr>
              <a:t>centres</a:t>
            </a:r>
            <a:r>
              <a:rPr sz="1200" b="0" i="0" dirty="0">
                <a:solidFill>
                  <a:srgbClr val="2D3748"/>
                </a:solidFill>
                <a:latin typeface="Times New Roman"/>
              </a:rPr>
              <a:t>; Phase 2: Taluka-level integration with district hospital referral registries; Phase 3: State-wide expansion under Maharashtra DHS.</a:t>
            </a:r>
          </a:p>
        </p:txBody>
      </p:sp>
      <p:sp>
        <p:nvSpPr>
          <p:cNvPr id="36" name="TextBox 35"/>
          <p:cNvSpPr txBox="1"/>
          <p:nvPr/>
        </p:nvSpPr>
        <p:spPr>
          <a:xfrm>
            <a:off x="13271500" y="8280400"/>
            <a:ext cx="4000500" cy="1133644"/>
          </a:xfrm>
          <a:prstGeom prst="rect">
            <a:avLst/>
          </a:prstGeom>
          <a:noFill/>
        </p:spPr>
        <p:txBody>
          <a:bodyPr wrap="square">
            <a:spAutoFit/>
          </a:bodyPr>
          <a:lstStyle/>
          <a:p>
            <a:pPr algn="l">
              <a:spcAft>
                <a:spcPts val="200"/>
              </a:spcAft>
            </a:pPr>
            <a:r>
              <a:rPr b="1" i="0" dirty="0">
                <a:solidFill>
                  <a:srgbClr val="2B6CB0"/>
                </a:solidFill>
                <a:latin typeface="Times New Roman"/>
              </a:rPr>
              <a:t>Frontline Capacity Building</a:t>
            </a:r>
          </a:p>
          <a:p>
            <a:pPr algn="l">
              <a:spcAft>
                <a:spcPts val="200"/>
              </a:spcAft>
            </a:pPr>
            <a:r>
              <a:rPr sz="1200" b="0" i="0" dirty="0">
                <a:solidFill>
                  <a:srgbClr val="2D3748"/>
                </a:solidFill>
                <a:latin typeface="Times New Roman"/>
              </a:rPr>
              <a:t>Intuitive icon-driven vernacular interfaces (Marathi/Hindi) require under 2 hours of training for ASHA cadres, ensuring rapid field adoption with zero disruption to daily healthcare delivery.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696450"/>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a:p>
          </p:txBody>
        </p:sp>
      </p:grpSp>
      <p:grpSp>
        <p:nvGrpSpPr>
          <p:cNvPr id="4" name="Group 4"/>
          <p:cNvGrpSpPr/>
          <p:nvPr/>
        </p:nvGrpSpPr>
        <p:grpSpPr>
          <a:xfrm>
            <a:off x="437181" y="-4712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a:p>
          </p:txBody>
        </p:sp>
        <p:sp>
          <p:nvSpPr>
            <p:cNvPr id="6" name="TextBox 6"/>
            <p:cNvSpPr txBox="1"/>
            <p:nvPr/>
          </p:nvSpPr>
          <p:spPr>
            <a:xfrm>
              <a:off x="0" y="0"/>
              <a:ext cx="21945600" cy="2286000"/>
            </a:xfrm>
            <a:prstGeom prst="rect">
              <a:avLst/>
            </a:prstGeom>
          </p:spPr>
          <p:txBody>
            <a:bodyPr lIns="0" tIns="0" rIns="0" bIns="0" rtlCol="0" anchor="ctr"/>
            <a:lstStyle/>
            <a:p>
              <a:pPr algn="ctr">
                <a:lnSpc>
                  <a:spcPts val="6360"/>
                </a:lnSpc>
              </a:pPr>
              <a:r>
                <a:rPr lang="en-US" sz="5300" b="1">
                  <a:solidFill>
                    <a:srgbClr val="004AAD"/>
                  </a:solidFill>
                  <a:latin typeface="Times New Roman"/>
                  <a:ea typeface="DM Sans Bold"/>
                  <a:cs typeface="DM Sans Bold"/>
                  <a:sym typeface="DM Sans Bold"/>
                </a:rPr>
                <a:t>IMPACT AND BENEFITS</a:t>
              </a:r>
            </a:p>
          </p:txBody>
        </p:sp>
      </p:grpSp>
      <p:grpSp>
        <p:nvGrpSpPr>
          <p:cNvPr id="7" name="Group 7"/>
          <p:cNvGrpSpPr/>
          <p:nvPr/>
        </p:nvGrpSpPr>
        <p:grpSpPr>
          <a:xfrm>
            <a:off x="13515497" y="9739312"/>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txBody>
            <a:bodyPr/>
            <a:lstStyle/>
            <a:p>
              <a:endParaRPr/>
            </a:p>
          </p:txBody>
        </p:sp>
        <p:sp>
          <p:nvSpPr>
            <p:cNvPr id="9" name="TextBox 9"/>
            <p:cNvSpPr txBox="1"/>
            <p:nvPr/>
          </p:nvSpPr>
          <p:spPr>
            <a:xfrm>
              <a:off x="0" y="-9525"/>
              <a:ext cx="5689600" cy="739775"/>
            </a:xfrm>
            <a:prstGeom prst="rect">
              <a:avLst/>
            </a:prstGeom>
          </p:spPr>
          <p:txBody>
            <a:bodyPr lIns="0" tIns="0" rIns="0" bIns="0" rtlCol="0" anchor="ctr"/>
            <a:lstStyle/>
            <a:p>
              <a:pPr algn="r">
                <a:lnSpc>
                  <a:spcPts val="2999"/>
                </a:lnSpc>
              </a:pPr>
              <a:r>
                <a:rPr lang="en-US" sz="2499" b="1">
                  <a:solidFill>
                    <a:srgbClr val="FFFFFF"/>
                  </a:solidFill>
                  <a:latin typeface="Times New Roman"/>
                  <a:ea typeface="Arimo Bold"/>
                  <a:cs typeface="Arimo Bold"/>
                  <a:sym typeface="Arimo Bold"/>
                </a:rPr>
                <a:t>5</a:t>
              </a:r>
            </a:p>
          </p:txBody>
        </p:sp>
      </p:grpSp>
      <p:grpSp>
        <p:nvGrpSpPr>
          <p:cNvPr id="10" name="Group 10"/>
          <p:cNvGrpSpPr/>
          <p:nvPr/>
        </p:nvGrpSpPr>
        <p:grpSpPr>
          <a:xfrm>
            <a:off x="198750" y="218658"/>
            <a:ext cx="1814393" cy="1182928"/>
            <a:chOff x="0" y="0"/>
            <a:chExt cx="2554516" cy="1665465"/>
          </a:xfrm>
        </p:grpSpPr>
        <p:sp>
          <p:nvSpPr>
            <p:cNvPr id="11" name="Freeform 11"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a:p>
          </p:txBody>
        </p:sp>
        <p:sp>
          <p:nvSpPr>
            <p:cNvPr id="12" name="TextBox 12"/>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700">
                  <a:solidFill>
                    <a:srgbClr val="000000"/>
                  </a:solidFill>
                  <a:latin typeface="Times New Roman"/>
                  <a:ea typeface="Calibri (MS)"/>
                  <a:cs typeface="Calibri (MS)"/>
                  <a:sym typeface="Calibri (MS)"/>
                </a:rPr>
                <a:t>ArogyaX</a:t>
              </a:r>
            </a:p>
          </p:txBody>
        </p:sp>
      </p:grpSp>
      <p:grpSp>
        <p:nvGrpSpPr>
          <p:cNvPr id="13" name="Group 13"/>
          <p:cNvGrpSpPr/>
          <p:nvPr/>
        </p:nvGrpSpPr>
        <p:grpSpPr>
          <a:xfrm>
            <a:off x="15050248" y="272203"/>
            <a:ext cx="2804903" cy="1324422"/>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a:p>
          </p:txBody>
        </p:sp>
      </p:grpSp>
      <p:sp>
        <p:nvSpPr>
          <p:cNvPr id="15" name="Rectangle 14"/>
          <p:cNvSpPr/>
          <p:nvPr/>
        </p:nvSpPr>
        <p:spPr>
          <a:xfrm>
            <a:off x="458716" y="1526942"/>
            <a:ext cx="17272000" cy="2353336"/>
          </a:xfrm>
          <a:prstGeom prst="rect">
            <a:avLst/>
          </a:prstGeom>
          <a:solidFill>
            <a:srgbClr val="FFFFFF"/>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2060" y="1443031"/>
            <a:ext cx="9132628" cy="400110"/>
          </a:xfrm>
          <a:prstGeom prst="rect">
            <a:avLst/>
          </a:prstGeom>
          <a:noFill/>
        </p:spPr>
        <p:txBody>
          <a:bodyPr wrap="none">
            <a:spAutoFit/>
          </a:bodyPr>
          <a:lstStyle/>
          <a:p>
            <a:pPr algn="l">
              <a:spcAft>
                <a:spcPts val="200"/>
              </a:spcAft>
            </a:pPr>
            <a:r>
              <a:rPr lang="en-US" sz="2000" b="1" i="0" dirty="0">
                <a:solidFill>
                  <a:srgbClr val="1A365D"/>
                </a:solidFill>
                <a:latin typeface="Times New Roman"/>
              </a:rPr>
              <a:t>Measurable Public Health Impact Indicators &amp; Operational Performance Metrics</a:t>
            </a:r>
            <a:endParaRPr sz="2000" b="1" i="0" dirty="0">
              <a:solidFill>
                <a:srgbClr val="1A365D"/>
              </a:solidFill>
              <a:latin typeface="Times New Roman"/>
            </a:endParaRPr>
          </a:p>
        </p:txBody>
      </p:sp>
      <p:grpSp>
        <p:nvGrpSpPr>
          <p:cNvPr id="51" name="Group 50">
            <a:extLst>
              <a:ext uri="{FF2B5EF4-FFF2-40B4-BE49-F238E27FC236}">
                <a16:creationId xmlns:a16="http://schemas.microsoft.com/office/drawing/2014/main" id="{870E2C83-B9AC-BF9F-2C8B-F6225FE62605}"/>
              </a:ext>
            </a:extLst>
          </p:cNvPr>
          <p:cNvGrpSpPr/>
          <p:nvPr/>
        </p:nvGrpSpPr>
        <p:grpSpPr>
          <a:xfrm>
            <a:off x="652060" y="2002322"/>
            <a:ext cx="16573500" cy="1720612"/>
            <a:chOff x="698500" y="2142022"/>
            <a:chExt cx="16573500" cy="1720612"/>
          </a:xfrm>
        </p:grpSpPr>
        <p:sp>
          <p:nvSpPr>
            <p:cNvPr id="17" name="Rectangle 16"/>
            <p:cNvSpPr/>
            <p:nvPr/>
          </p:nvSpPr>
          <p:spPr>
            <a:xfrm>
              <a:off x="698500" y="2142022"/>
              <a:ext cx="4000500" cy="15240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0100" y="2180122"/>
              <a:ext cx="3797300" cy="1405513"/>
            </a:xfrm>
            <a:prstGeom prst="rect">
              <a:avLst/>
            </a:prstGeom>
            <a:noFill/>
          </p:spPr>
          <p:txBody>
            <a:bodyPr wrap="square">
              <a:spAutoFit/>
            </a:bodyPr>
            <a:lstStyle/>
            <a:p>
              <a:pPr algn="l">
                <a:spcAft>
                  <a:spcPts val="200"/>
                </a:spcAft>
              </a:pPr>
              <a:r>
                <a:rPr b="1" i="0" dirty="0">
                  <a:solidFill>
                    <a:srgbClr val="1A365D"/>
                  </a:solidFill>
                  <a:latin typeface="Times New Roman"/>
                </a:rPr>
                <a:t>OPD Registration Waiting Time</a:t>
              </a:r>
            </a:p>
            <a:p>
              <a:pPr algn="l">
                <a:spcAft>
                  <a:spcPts val="200"/>
                </a:spcAft>
              </a:pPr>
              <a:r>
                <a:rPr sz="1600" b="1" i="0" dirty="0">
                  <a:solidFill>
                    <a:srgbClr val="287465"/>
                  </a:solidFill>
                  <a:latin typeface="Times New Roman"/>
                </a:rPr>
                <a:t>Reduction from ~75 mins to &lt;5 mins</a:t>
              </a:r>
            </a:p>
            <a:p>
              <a:pPr algn="l">
                <a:spcAft>
                  <a:spcPts val="200"/>
                </a:spcAft>
              </a:pPr>
              <a:r>
                <a:rPr sz="1600" b="0" i="0" dirty="0">
                  <a:solidFill>
                    <a:srgbClr val="2D3748"/>
                  </a:solidFill>
                  <a:latin typeface="Times New Roman"/>
                </a:rPr>
                <a:t>QR-based digital token allocation and dynamic M/M/1 queue estimation eliminate morning registration crowding at PHCs.</a:t>
              </a:r>
            </a:p>
          </p:txBody>
        </p:sp>
        <p:sp>
          <p:nvSpPr>
            <p:cNvPr id="19" name="Rectangle 18"/>
            <p:cNvSpPr/>
            <p:nvPr/>
          </p:nvSpPr>
          <p:spPr>
            <a:xfrm>
              <a:off x="4889500" y="2142022"/>
              <a:ext cx="4000500" cy="15240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91100" y="2180122"/>
              <a:ext cx="3797300" cy="1682512"/>
            </a:xfrm>
            <a:prstGeom prst="rect">
              <a:avLst/>
            </a:prstGeom>
            <a:noFill/>
          </p:spPr>
          <p:txBody>
            <a:bodyPr wrap="square">
              <a:spAutoFit/>
            </a:bodyPr>
            <a:lstStyle/>
            <a:p>
              <a:pPr algn="l">
                <a:spcAft>
                  <a:spcPts val="200"/>
                </a:spcAft>
              </a:pPr>
              <a:r>
                <a:rPr b="1" i="0" dirty="0">
                  <a:solidFill>
                    <a:srgbClr val="1A365D"/>
                  </a:solidFill>
                  <a:latin typeface="Times New Roman"/>
                </a:rPr>
                <a:t>Patient Travel &amp; Out-of-Pocket Costs</a:t>
              </a:r>
            </a:p>
            <a:p>
              <a:pPr algn="l">
                <a:spcAft>
                  <a:spcPts val="200"/>
                </a:spcAft>
              </a:pPr>
              <a:r>
                <a:rPr sz="1600" b="1" i="0" dirty="0">
                  <a:solidFill>
                    <a:srgbClr val="287465"/>
                  </a:solidFill>
                  <a:latin typeface="Times New Roman"/>
                </a:rPr>
                <a:t>Saves 30–70 km &amp; ₹250–₹500/visit</a:t>
              </a:r>
            </a:p>
            <a:p>
              <a:pPr algn="l">
                <a:spcAft>
                  <a:spcPts val="200"/>
                </a:spcAft>
              </a:pPr>
              <a:r>
                <a:rPr sz="1600" b="0" i="0" dirty="0">
                  <a:solidFill>
                    <a:srgbClr val="2D3748"/>
                  </a:solidFill>
                  <a:latin typeface="Times New Roman"/>
                </a:rPr>
                <a:t>Assisted teleconsultation and prescription renewals eliminate unnecessary travel to distant sub-district hospitals.</a:t>
              </a:r>
            </a:p>
          </p:txBody>
        </p:sp>
        <p:sp>
          <p:nvSpPr>
            <p:cNvPr id="21" name="Rectangle 20"/>
            <p:cNvSpPr/>
            <p:nvPr/>
          </p:nvSpPr>
          <p:spPr>
            <a:xfrm>
              <a:off x="9080500" y="2142022"/>
              <a:ext cx="4000500" cy="15240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82100" y="2180122"/>
              <a:ext cx="3797300" cy="1405513"/>
            </a:xfrm>
            <a:prstGeom prst="rect">
              <a:avLst/>
            </a:prstGeom>
            <a:noFill/>
          </p:spPr>
          <p:txBody>
            <a:bodyPr wrap="square">
              <a:spAutoFit/>
            </a:bodyPr>
            <a:lstStyle/>
            <a:p>
              <a:pPr algn="l">
                <a:spcAft>
                  <a:spcPts val="200"/>
                </a:spcAft>
              </a:pPr>
              <a:r>
                <a:rPr b="1" i="0" dirty="0">
                  <a:solidFill>
                    <a:srgbClr val="1A365D"/>
                  </a:solidFill>
                  <a:latin typeface="Times New Roman"/>
                </a:rPr>
                <a:t>Referral Turnaround Latency</a:t>
              </a:r>
            </a:p>
            <a:p>
              <a:pPr algn="l">
                <a:spcAft>
                  <a:spcPts val="200"/>
                </a:spcAft>
              </a:pPr>
              <a:r>
                <a:rPr sz="1600" b="1" i="0" dirty="0">
                  <a:solidFill>
                    <a:srgbClr val="287465"/>
                  </a:solidFill>
                  <a:latin typeface="Times New Roman"/>
                </a:rPr>
                <a:t>Reduced from 7–14 days to &lt;24 </a:t>
              </a:r>
              <a:r>
                <a:rPr sz="1600" b="1" i="0" dirty="0" err="1">
                  <a:solidFill>
                    <a:srgbClr val="287465"/>
                  </a:solidFill>
                  <a:latin typeface="Times New Roman"/>
                </a:rPr>
                <a:t>hrs</a:t>
              </a:r>
              <a:endParaRPr sz="1600" b="1" i="0" dirty="0">
                <a:solidFill>
                  <a:srgbClr val="287465"/>
                </a:solidFill>
                <a:latin typeface="Times New Roman"/>
              </a:endParaRPr>
            </a:p>
            <a:p>
              <a:pPr algn="l">
                <a:spcAft>
                  <a:spcPts val="200"/>
                </a:spcAft>
              </a:pPr>
              <a:r>
                <a:rPr sz="1600" b="0" i="0" dirty="0">
                  <a:solidFill>
                    <a:srgbClr val="2D3748"/>
                  </a:solidFill>
                  <a:latin typeface="Times New Roman"/>
                </a:rPr>
                <a:t>Digital bidirectional referral workflows ensure immediate specialist appointment confirmation and bed tracking.</a:t>
              </a:r>
            </a:p>
          </p:txBody>
        </p:sp>
        <p:sp>
          <p:nvSpPr>
            <p:cNvPr id="23" name="Rectangle 22"/>
            <p:cNvSpPr/>
            <p:nvPr/>
          </p:nvSpPr>
          <p:spPr>
            <a:xfrm>
              <a:off x="13271500" y="2142022"/>
              <a:ext cx="4000500" cy="15240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373100" y="2180122"/>
              <a:ext cx="3797300" cy="1651734"/>
            </a:xfrm>
            <a:prstGeom prst="rect">
              <a:avLst/>
            </a:prstGeom>
            <a:noFill/>
          </p:spPr>
          <p:txBody>
            <a:bodyPr wrap="square">
              <a:spAutoFit/>
            </a:bodyPr>
            <a:lstStyle/>
            <a:p>
              <a:pPr algn="l">
                <a:spcAft>
                  <a:spcPts val="200"/>
                </a:spcAft>
              </a:pPr>
              <a:r>
                <a:rPr b="1" i="0" dirty="0">
                  <a:solidFill>
                    <a:srgbClr val="1A365D"/>
                  </a:solidFill>
                  <a:latin typeface="Times New Roman"/>
                </a:rPr>
                <a:t>Early Epidemic Outbreak Alert</a:t>
              </a:r>
            </a:p>
            <a:p>
              <a:pPr algn="l">
                <a:spcAft>
                  <a:spcPts val="200"/>
                </a:spcAft>
              </a:pPr>
              <a:r>
                <a:rPr sz="1600" b="1" i="0" dirty="0">
                  <a:solidFill>
                    <a:srgbClr val="287465"/>
                  </a:solidFill>
                  <a:latin typeface="Times New Roman"/>
                </a:rPr>
                <a:t>Cluster alerts in &lt;24 </a:t>
              </a:r>
              <a:r>
                <a:rPr sz="1600" b="1" i="0" dirty="0" err="1">
                  <a:solidFill>
                    <a:srgbClr val="287465"/>
                  </a:solidFill>
                  <a:latin typeface="Times New Roman"/>
                </a:rPr>
                <a:t>hrs</a:t>
              </a:r>
              <a:r>
                <a:rPr sz="1600" b="1" i="0" dirty="0">
                  <a:solidFill>
                    <a:srgbClr val="287465"/>
                  </a:solidFill>
                  <a:latin typeface="Times New Roman"/>
                </a:rPr>
                <a:t> vs 14 days</a:t>
              </a:r>
            </a:p>
            <a:p>
              <a:pPr algn="l">
                <a:spcAft>
                  <a:spcPts val="200"/>
                </a:spcAft>
              </a:pPr>
              <a:r>
                <a:rPr sz="1600" b="0" i="0" dirty="0">
                  <a:solidFill>
                    <a:srgbClr val="2D3748"/>
                  </a:solidFill>
                  <a:latin typeface="Times New Roman"/>
                </a:rPr>
                <a:t>Automated syndromic case logging identifies fever/</a:t>
              </a:r>
              <a:r>
                <a:rPr sz="1600" b="0" i="0" dirty="0" err="1">
                  <a:solidFill>
                    <a:srgbClr val="2D3748"/>
                  </a:solidFill>
                  <a:latin typeface="Times New Roman"/>
                </a:rPr>
                <a:t>diarrhoea</a:t>
              </a:r>
              <a:r>
                <a:rPr sz="1600" b="0" i="0" dirty="0">
                  <a:solidFill>
                    <a:srgbClr val="2D3748"/>
                  </a:solidFill>
                  <a:latin typeface="Times New Roman"/>
                </a:rPr>
                <a:t> spikes at the village level, replacing slow paper IDSP tallying.</a:t>
              </a:r>
            </a:p>
          </p:txBody>
        </p:sp>
      </p:grpSp>
      <p:grpSp>
        <p:nvGrpSpPr>
          <p:cNvPr id="46" name="Group 45">
            <a:extLst>
              <a:ext uri="{FF2B5EF4-FFF2-40B4-BE49-F238E27FC236}">
                <a16:creationId xmlns:a16="http://schemas.microsoft.com/office/drawing/2014/main" id="{6B1C0DC1-B975-8E46-A891-8CA2712A8BA1}"/>
              </a:ext>
            </a:extLst>
          </p:cNvPr>
          <p:cNvGrpSpPr/>
          <p:nvPr/>
        </p:nvGrpSpPr>
        <p:grpSpPr>
          <a:xfrm>
            <a:off x="508000" y="3977172"/>
            <a:ext cx="17272000" cy="3644900"/>
            <a:chOff x="508000" y="3530600"/>
            <a:chExt cx="17272000" cy="3644900"/>
          </a:xfrm>
        </p:grpSpPr>
        <p:sp>
          <p:nvSpPr>
            <p:cNvPr id="26" name="Rectangle 25"/>
            <p:cNvSpPr/>
            <p:nvPr/>
          </p:nvSpPr>
          <p:spPr>
            <a:xfrm>
              <a:off x="508000" y="3873500"/>
              <a:ext cx="4127500" cy="3302000"/>
            </a:xfrm>
            <a:prstGeom prst="rect">
              <a:avLst/>
            </a:prstGeom>
            <a:solidFill>
              <a:srgbClr val="FFFFFF"/>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889500" y="3873500"/>
              <a:ext cx="4127500" cy="3302000"/>
            </a:xfrm>
            <a:prstGeom prst="rect">
              <a:avLst/>
            </a:prstGeom>
            <a:solidFill>
              <a:srgbClr val="FFFFFF"/>
            </a:solidFill>
            <a:ln w="15240">
              <a:solidFill>
                <a:srgbClr val="C056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271000" y="3873500"/>
              <a:ext cx="4127500" cy="3302000"/>
            </a:xfrm>
            <a:prstGeom prst="rect">
              <a:avLst/>
            </a:prstGeom>
            <a:solidFill>
              <a:srgbClr val="FFFFFF"/>
            </a:solidFill>
            <a:ln w="15240">
              <a:solidFill>
                <a:srgbClr val="2874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3652500" y="3873500"/>
              <a:ext cx="4127500" cy="3302000"/>
            </a:xfrm>
            <a:prstGeom prst="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5" name="Group 44">
              <a:extLst>
                <a:ext uri="{FF2B5EF4-FFF2-40B4-BE49-F238E27FC236}">
                  <a16:creationId xmlns:a16="http://schemas.microsoft.com/office/drawing/2014/main" id="{7BD57751-BF2E-DE6D-33B9-D58DEF7543A9}"/>
                </a:ext>
              </a:extLst>
            </p:cNvPr>
            <p:cNvGrpSpPr/>
            <p:nvPr/>
          </p:nvGrpSpPr>
          <p:grpSpPr>
            <a:xfrm>
              <a:off x="508000" y="3530600"/>
              <a:ext cx="17203025" cy="3556000"/>
              <a:chOff x="508000" y="3530600"/>
              <a:chExt cx="17203025" cy="3556000"/>
            </a:xfrm>
          </p:grpSpPr>
          <p:sp>
            <p:nvSpPr>
              <p:cNvPr id="25" name="TextBox 24"/>
              <p:cNvSpPr txBox="1"/>
              <p:nvPr/>
            </p:nvSpPr>
            <p:spPr>
              <a:xfrm>
                <a:off x="508000" y="3530600"/>
                <a:ext cx="10777694" cy="400110"/>
              </a:xfrm>
              <a:prstGeom prst="rect">
                <a:avLst/>
              </a:prstGeom>
              <a:noFill/>
            </p:spPr>
            <p:txBody>
              <a:bodyPr wrap="none">
                <a:spAutoFit/>
              </a:bodyPr>
              <a:lstStyle/>
              <a:p>
                <a:pPr algn="l">
                  <a:spcAft>
                    <a:spcPts val="200"/>
                  </a:spcAft>
                </a:pPr>
                <a:r>
                  <a:rPr sz="2000" b="1" i="0" dirty="0">
                    <a:solidFill>
                      <a:srgbClr val="1A365D"/>
                    </a:solidFill>
                    <a:latin typeface="Times New Roman"/>
                  </a:rPr>
                  <a:t>Comprehensive Strategic Benefits Framework (Social, Economic, Operational &amp; Environmental)</a:t>
                </a:r>
              </a:p>
            </p:txBody>
          </p:sp>
          <p:sp>
            <p:nvSpPr>
              <p:cNvPr id="27" name="TextBox 26"/>
              <p:cNvSpPr txBox="1"/>
              <p:nvPr/>
            </p:nvSpPr>
            <p:spPr>
              <a:xfrm>
                <a:off x="635000" y="3937000"/>
                <a:ext cx="3025187" cy="369332"/>
              </a:xfrm>
              <a:prstGeom prst="rect">
                <a:avLst/>
              </a:prstGeom>
              <a:noFill/>
            </p:spPr>
            <p:txBody>
              <a:bodyPr wrap="none">
                <a:spAutoFit/>
              </a:bodyPr>
              <a:lstStyle/>
              <a:p>
                <a:pPr algn="l">
                  <a:spcAft>
                    <a:spcPts val="200"/>
                  </a:spcAft>
                </a:pPr>
                <a:r>
                  <a:rPr b="1" i="0" dirty="0">
                    <a:solidFill>
                      <a:srgbClr val="1A365D"/>
                    </a:solidFill>
                    <a:latin typeface="Times New Roman"/>
                  </a:rPr>
                  <a:t>Social &amp; Community Impact</a:t>
                </a:r>
              </a:p>
            </p:txBody>
          </p:sp>
          <p:sp>
            <p:nvSpPr>
              <p:cNvPr id="28" name="TextBox 27"/>
              <p:cNvSpPr txBox="1"/>
              <p:nvPr/>
            </p:nvSpPr>
            <p:spPr>
              <a:xfrm>
                <a:off x="635000" y="4267200"/>
                <a:ext cx="3873500" cy="2793072"/>
              </a:xfrm>
              <a:prstGeom prst="rect">
                <a:avLst/>
              </a:prstGeom>
              <a:noFill/>
            </p:spPr>
            <p:txBody>
              <a:bodyPr wrap="square">
                <a:spAutoFit/>
              </a:bodyPr>
              <a:lstStyle/>
              <a:p>
                <a:pPr>
                  <a:spcAft>
                    <a:spcPts val="300"/>
                  </a:spcAft>
                </a:pPr>
                <a:r>
                  <a:rPr sz="1400" b="1" i="0" dirty="0">
                    <a:solidFill>
                      <a:srgbClr val="1A365D"/>
                    </a:solidFill>
                    <a:latin typeface="Times New Roman"/>
                  </a:rPr>
                  <a:t>• Universal Care Access:</a:t>
                </a:r>
                <a:r>
                  <a:rPr sz="1400" b="0" i="0" dirty="0">
                    <a:solidFill>
                      <a:srgbClr val="2D3748"/>
                    </a:solidFill>
                    <a:latin typeface="Times New Roman"/>
                  </a:rPr>
                  <a:t> Extends doctor teleconsultation to marginalized tribal and rural communities across Maharashtra.</a:t>
                </a:r>
              </a:p>
              <a:p>
                <a:pPr>
                  <a:spcAft>
                    <a:spcPts val="300"/>
                  </a:spcAft>
                </a:pPr>
                <a:r>
                  <a:rPr sz="1400" b="1" i="0" dirty="0">
                    <a:solidFill>
                      <a:srgbClr val="1A365D"/>
                    </a:solidFill>
                    <a:latin typeface="Times New Roman"/>
                  </a:rPr>
                  <a:t>• Empowers ASHA Workers:</a:t>
                </a:r>
                <a:r>
                  <a:rPr sz="1400" b="0" i="0" dirty="0">
                    <a:solidFill>
                      <a:srgbClr val="2D3748"/>
                    </a:solidFill>
                    <a:latin typeface="Times New Roman"/>
                  </a:rPr>
                  <a:t> Digitized home-visit schedules and proxy tools enhance community standing and workflow efficiency.</a:t>
                </a:r>
              </a:p>
              <a:p>
                <a:pPr>
                  <a:spcAft>
                    <a:spcPts val="300"/>
                  </a:spcAft>
                </a:pPr>
                <a:r>
                  <a:rPr sz="1400" b="1" i="0" dirty="0">
                    <a:solidFill>
                      <a:srgbClr val="1A365D"/>
                    </a:solidFill>
                    <a:latin typeface="Times New Roman"/>
                  </a:rPr>
                  <a:t>• Maternal &amp; Child Safety:</a:t>
                </a:r>
                <a:r>
                  <a:rPr sz="1400" b="0" i="0" dirty="0">
                    <a:solidFill>
                      <a:srgbClr val="2D3748"/>
                    </a:solidFill>
                    <a:latin typeface="Times New Roman"/>
                  </a:rPr>
                  <a:t> Automated high-risk pregnancy tracking and immunization reminders drive &gt;95% full schedule completion.</a:t>
                </a:r>
              </a:p>
              <a:p>
                <a:pPr>
                  <a:spcAft>
                    <a:spcPts val="300"/>
                  </a:spcAft>
                </a:pPr>
                <a:r>
                  <a:rPr sz="1400" b="1" i="0" dirty="0">
                    <a:solidFill>
                      <a:srgbClr val="1A365D"/>
                    </a:solidFill>
                    <a:latin typeface="Times New Roman"/>
                  </a:rPr>
                  <a:t>• Emergency Escalation:</a:t>
                </a:r>
                <a:r>
                  <a:rPr sz="1400" b="0" i="0" dirty="0">
                    <a:solidFill>
                      <a:srgbClr val="2D3748"/>
                    </a:solidFill>
                    <a:latin typeface="Times New Roman"/>
                  </a:rPr>
                  <a:t> 2-click cellular SOS ensures rapid critical medical evacuation even in zero mobile data conditions.</a:t>
                </a:r>
              </a:p>
            </p:txBody>
          </p:sp>
          <p:sp>
            <p:nvSpPr>
              <p:cNvPr id="30" name="TextBox 29"/>
              <p:cNvSpPr txBox="1"/>
              <p:nvPr/>
            </p:nvSpPr>
            <p:spPr>
              <a:xfrm>
                <a:off x="5016500" y="3937000"/>
                <a:ext cx="3281668" cy="369332"/>
              </a:xfrm>
              <a:prstGeom prst="rect">
                <a:avLst/>
              </a:prstGeom>
              <a:noFill/>
            </p:spPr>
            <p:txBody>
              <a:bodyPr wrap="none">
                <a:spAutoFit/>
              </a:bodyPr>
              <a:lstStyle/>
              <a:p>
                <a:pPr algn="l">
                  <a:spcAft>
                    <a:spcPts val="200"/>
                  </a:spcAft>
                </a:pPr>
                <a:r>
                  <a:rPr b="1" i="0" dirty="0">
                    <a:solidFill>
                      <a:srgbClr val="C05621"/>
                    </a:solidFill>
                    <a:latin typeface="Times New Roman"/>
                  </a:rPr>
                  <a:t>Economic &amp; Household Impact</a:t>
                </a:r>
              </a:p>
            </p:txBody>
          </p:sp>
          <p:sp>
            <p:nvSpPr>
              <p:cNvPr id="31" name="TextBox 30"/>
              <p:cNvSpPr txBox="1"/>
              <p:nvPr/>
            </p:nvSpPr>
            <p:spPr>
              <a:xfrm>
                <a:off x="5016500" y="4267200"/>
                <a:ext cx="3873500" cy="2819400"/>
              </a:xfrm>
              <a:prstGeom prst="rect">
                <a:avLst/>
              </a:prstGeom>
              <a:noFill/>
            </p:spPr>
            <p:txBody>
              <a:bodyPr wrap="square">
                <a:spAutoFit/>
              </a:bodyPr>
              <a:lstStyle/>
              <a:p>
                <a:pPr>
                  <a:spcAft>
                    <a:spcPts val="300"/>
                  </a:spcAft>
                </a:pPr>
                <a:r>
                  <a:rPr sz="1400" b="1" i="0" dirty="0">
                    <a:solidFill>
                      <a:srgbClr val="1A365D"/>
                    </a:solidFill>
                    <a:latin typeface="Times New Roman"/>
                  </a:rPr>
                  <a:t>• Wage Loss Prevention:</a:t>
                </a:r>
                <a:r>
                  <a:rPr sz="1400" b="0" i="0" dirty="0">
                    <a:solidFill>
                      <a:srgbClr val="2D3748"/>
                    </a:solidFill>
                    <a:latin typeface="Times New Roman"/>
                  </a:rPr>
                  <a:t> Predictable digital OPD tokens prevent rural agricultural workers from losing full days of daily wages.</a:t>
                </a:r>
              </a:p>
              <a:p>
                <a:pPr>
                  <a:spcAft>
                    <a:spcPts val="300"/>
                  </a:spcAft>
                </a:pPr>
                <a:r>
                  <a:rPr sz="1400" b="1" i="0" dirty="0">
                    <a:solidFill>
                      <a:srgbClr val="1A365D"/>
                    </a:solidFill>
                    <a:latin typeface="Times New Roman"/>
                  </a:rPr>
                  <a:t>• Avoided Out-of-Pocket Costs:</a:t>
                </a:r>
                <a:r>
                  <a:rPr sz="1400" b="0" i="0" dirty="0">
                    <a:solidFill>
                      <a:srgbClr val="2D3748"/>
                    </a:solidFill>
                    <a:latin typeface="Times New Roman"/>
                  </a:rPr>
                  <a:t> Eliminates repetitive private travel and diagnostic charges through connected medical records.</a:t>
                </a:r>
              </a:p>
              <a:p>
                <a:pPr>
                  <a:spcAft>
                    <a:spcPts val="300"/>
                  </a:spcAft>
                </a:pPr>
                <a:r>
                  <a:rPr sz="1400" b="1" i="0" dirty="0">
                    <a:solidFill>
                      <a:srgbClr val="1A365D"/>
                    </a:solidFill>
                    <a:latin typeface="Times New Roman"/>
                  </a:rPr>
                  <a:t>• Optimized Public Spending:</a:t>
                </a:r>
                <a:r>
                  <a:rPr sz="1400" b="0" i="0" dirty="0">
                    <a:solidFill>
                      <a:srgbClr val="2D3748"/>
                    </a:solidFill>
                    <a:latin typeface="Times New Roman"/>
                  </a:rPr>
                  <a:t> Real-time inventory monitors eliminate expiry wastage of essential medicines in PHC dispensaries.</a:t>
                </a:r>
              </a:p>
              <a:p>
                <a:pPr>
                  <a:spcAft>
                    <a:spcPts val="300"/>
                  </a:spcAft>
                </a:pPr>
                <a:r>
                  <a:rPr sz="1400" b="1" i="0" dirty="0">
                    <a:solidFill>
                      <a:srgbClr val="1A365D"/>
                    </a:solidFill>
                    <a:latin typeface="Times New Roman"/>
                  </a:rPr>
                  <a:t>• Preventive Cost Savings:</a:t>
                </a:r>
                <a:r>
                  <a:rPr sz="1400" b="0" i="0" dirty="0">
                    <a:solidFill>
                      <a:srgbClr val="2D3748"/>
                    </a:solidFill>
                    <a:latin typeface="Times New Roman"/>
                  </a:rPr>
                  <a:t> Early digital triage and routine chronic follow-ups prevent high-cost tertiary emergency admissions</a:t>
                </a:r>
                <a:r>
                  <a:rPr sz="850" b="0" i="0" dirty="0">
                    <a:solidFill>
                      <a:srgbClr val="2D3748"/>
                    </a:solidFill>
                    <a:latin typeface="Times New Roman"/>
                  </a:rPr>
                  <a:t>.</a:t>
                </a:r>
              </a:p>
            </p:txBody>
          </p:sp>
          <p:sp>
            <p:nvSpPr>
              <p:cNvPr id="33" name="TextBox 32"/>
              <p:cNvSpPr txBox="1"/>
              <p:nvPr/>
            </p:nvSpPr>
            <p:spPr>
              <a:xfrm>
                <a:off x="9398000" y="3937000"/>
                <a:ext cx="3217547" cy="369332"/>
              </a:xfrm>
              <a:prstGeom prst="rect">
                <a:avLst/>
              </a:prstGeom>
              <a:noFill/>
            </p:spPr>
            <p:txBody>
              <a:bodyPr wrap="none">
                <a:spAutoFit/>
              </a:bodyPr>
              <a:lstStyle/>
              <a:p>
                <a:pPr algn="l">
                  <a:spcAft>
                    <a:spcPts val="200"/>
                  </a:spcAft>
                </a:pPr>
                <a:r>
                  <a:rPr b="1" i="0" dirty="0">
                    <a:solidFill>
                      <a:srgbClr val="287465"/>
                    </a:solidFill>
                    <a:latin typeface="Times New Roman"/>
                  </a:rPr>
                  <a:t>Operational &amp; Clinical Impact</a:t>
                </a:r>
              </a:p>
            </p:txBody>
          </p:sp>
          <p:sp>
            <p:nvSpPr>
              <p:cNvPr id="34" name="TextBox 33"/>
              <p:cNvSpPr txBox="1"/>
              <p:nvPr/>
            </p:nvSpPr>
            <p:spPr>
              <a:xfrm>
                <a:off x="9398000" y="4267200"/>
                <a:ext cx="3873500" cy="2819400"/>
              </a:xfrm>
              <a:prstGeom prst="rect">
                <a:avLst/>
              </a:prstGeom>
              <a:noFill/>
            </p:spPr>
            <p:txBody>
              <a:bodyPr wrap="square">
                <a:spAutoFit/>
              </a:bodyPr>
              <a:lstStyle/>
              <a:p>
                <a:pPr>
                  <a:spcAft>
                    <a:spcPts val="300"/>
                  </a:spcAft>
                </a:pPr>
                <a:r>
                  <a:rPr sz="1400" b="1" i="0" dirty="0">
                    <a:solidFill>
                      <a:srgbClr val="1A365D"/>
                    </a:solidFill>
                    <a:latin typeface="Times New Roman"/>
                  </a:rPr>
                  <a:t>• 100% Offline Continuity:</a:t>
                </a:r>
                <a:r>
                  <a:rPr sz="1400" b="0" i="0" dirty="0">
                    <a:solidFill>
                      <a:srgbClr val="2D3748"/>
                    </a:solidFill>
                    <a:latin typeface="Times New Roman"/>
                  </a:rPr>
                  <a:t> Uninterrupted clinical records and patient check-ins even during prolonged rural internet blackouts.</a:t>
                </a:r>
              </a:p>
              <a:p>
                <a:pPr>
                  <a:spcAft>
                    <a:spcPts val="300"/>
                  </a:spcAft>
                </a:pPr>
                <a:r>
                  <a:rPr sz="1400" b="1" i="0" dirty="0">
                    <a:solidFill>
                      <a:srgbClr val="1A365D"/>
                    </a:solidFill>
                    <a:latin typeface="Times New Roman"/>
                  </a:rPr>
                  <a:t>• Closed-Loop Referrals:</a:t>
                </a:r>
                <a:r>
                  <a:rPr sz="1400" b="0" i="0" dirty="0">
                    <a:solidFill>
                      <a:srgbClr val="2D3748"/>
                    </a:solidFill>
                    <a:latin typeface="Times New Roman"/>
                  </a:rPr>
                  <a:t> Ensures bidirectional communication between primary medical officers and district hospital specialists.</a:t>
                </a:r>
              </a:p>
              <a:p>
                <a:pPr>
                  <a:spcAft>
                    <a:spcPts val="300"/>
                  </a:spcAft>
                </a:pPr>
                <a:r>
                  <a:rPr sz="1400" b="1" i="0" dirty="0">
                    <a:solidFill>
                      <a:srgbClr val="1A365D"/>
                    </a:solidFill>
                    <a:latin typeface="Times New Roman"/>
                  </a:rPr>
                  <a:t>• Elimination of Paper Loss:</a:t>
                </a:r>
                <a:r>
                  <a:rPr sz="1400" b="0" i="0" dirty="0">
                    <a:solidFill>
                      <a:srgbClr val="2D3748"/>
                    </a:solidFill>
                    <a:latin typeface="Times New Roman"/>
                  </a:rPr>
                  <a:t> Single longitudinal patient record unites prescriptions, lab diagnostics, and physician clinical notes.</a:t>
                </a:r>
              </a:p>
              <a:p>
                <a:pPr>
                  <a:spcAft>
                    <a:spcPts val="300"/>
                  </a:spcAft>
                </a:pPr>
                <a:r>
                  <a:rPr sz="1400" b="1" i="0" dirty="0">
                    <a:solidFill>
                      <a:srgbClr val="1A365D"/>
                    </a:solidFill>
                    <a:latin typeface="Times New Roman"/>
                  </a:rPr>
                  <a:t>• Fair Queue Management:</a:t>
                </a:r>
                <a:r>
                  <a:rPr sz="1400" b="0" i="0" dirty="0">
                    <a:solidFill>
                      <a:srgbClr val="2D3748"/>
                    </a:solidFill>
                    <a:latin typeface="Times New Roman"/>
                  </a:rPr>
                  <a:t> Cryptographically authoritative tokens eliminate queue jumping and chaotic crowd pressure at OPD desks</a:t>
                </a:r>
                <a:r>
                  <a:rPr sz="850" b="0" i="0" dirty="0">
                    <a:solidFill>
                      <a:srgbClr val="2D3748"/>
                    </a:solidFill>
                    <a:latin typeface="Times New Roman"/>
                  </a:rPr>
                  <a:t>.</a:t>
                </a:r>
              </a:p>
            </p:txBody>
          </p:sp>
          <p:sp>
            <p:nvSpPr>
              <p:cNvPr id="36" name="TextBox 35"/>
              <p:cNvSpPr txBox="1"/>
              <p:nvPr/>
            </p:nvSpPr>
            <p:spPr>
              <a:xfrm>
                <a:off x="13779500" y="3937000"/>
                <a:ext cx="3931525" cy="369332"/>
              </a:xfrm>
              <a:prstGeom prst="rect">
                <a:avLst/>
              </a:prstGeom>
              <a:noFill/>
            </p:spPr>
            <p:txBody>
              <a:bodyPr wrap="none">
                <a:spAutoFit/>
              </a:bodyPr>
              <a:lstStyle/>
              <a:p>
                <a:pPr algn="l">
                  <a:spcAft>
                    <a:spcPts val="200"/>
                  </a:spcAft>
                </a:pPr>
                <a:r>
                  <a:rPr b="1" i="0" dirty="0">
                    <a:solidFill>
                      <a:srgbClr val="2B6CB0"/>
                    </a:solidFill>
                    <a:latin typeface="Times New Roman"/>
                  </a:rPr>
                  <a:t>Environmental &amp; Governance Impact</a:t>
                </a:r>
              </a:p>
            </p:txBody>
          </p:sp>
          <p:sp>
            <p:nvSpPr>
              <p:cNvPr id="37" name="TextBox 36"/>
              <p:cNvSpPr txBox="1"/>
              <p:nvPr/>
            </p:nvSpPr>
            <p:spPr>
              <a:xfrm>
                <a:off x="13779500" y="4267200"/>
                <a:ext cx="3873500" cy="2793072"/>
              </a:xfrm>
              <a:prstGeom prst="rect">
                <a:avLst/>
              </a:prstGeom>
              <a:noFill/>
            </p:spPr>
            <p:txBody>
              <a:bodyPr wrap="square">
                <a:spAutoFit/>
              </a:bodyPr>
              <a:lstStyle/>
              <a:p>
                <a:pPr>
                  <a:spcAft>
                    <a:spcPts val="300"/>
                  </a:spcAft>
                </a:pPr>
                <a:r>
                  <a:rPr sz="1400" b="1" i="0" dirty="0">
                    <a:solidFill>
                      <a:srgbClr val="1A365D"/>
                    </a:solidFill>
                    <a:latin typeface="Times New Roman"/>
                  </a:rPr>
                  <a:t>• Paperless Administration:</a:t>
                </a:r>
                <a:r>
                  <a:rPr sz="1400" b="0" i="0" dirty="0">
                    <a:solidFill>
                      <a:srgbClr val="2D3748"/>
                    </a:solidFill>
                    <a:latin typeface="Times New Roman"/>
                  </a:rPr>
                  <a:t> Saves thousands of physical registers and paper slips per taluka, driving green governance.</a:t>
                </a:r>
              </a:p>
              <a:p>
                <a:pPr>
                  <a:spcAft>
                    <a:spcPts val="300"/>
                  </a:spcAft>
                </a:pPr>
                <a:r>
                  <a:rPr sz="1400" b="1" i="0" dirty="0">
                    <a:solidFill>
                      <a:srgbClr val="1A365D"/>
                    </a:solidFill>
                    <a:latin typeface="Times New Roman"/>
                  </a:rPr>
                  <a:t>• Reduced Transport Emissions:</a:t>
                </a:r>
                <a:r>
                  <a:rPr sz="1400" b="0" i="0" dirty="0">
                    <a:solidFill>
                      <a:srgbClr val="2D3748"/>
                    </a:solidFill>
                    <a:latin typeface="Times New Roman"/>
                  </a:rPr>
                  <a:t> Decreased physical travel for routine follow-ups lowers rural vehicular carbon footprints.</a:t>
                </a:r>
              </a:p>
              <a:p>
                <a:pPr>
                  <a:spcAft>
                    <a:spcPts val="300"/>
                  </a:spcAft>
                </a:pPr>
                <a:r>
                  <a:rPr sz="1400" b="1" i="0" dirty="0">
                    <a:solidFill>
                      <a:srgbClr val="1A365D"/>
                    </a:solidFill>
                    <a:latin typeface="Times New Roman"/>
                  </a:rPr>
                  <a:t>• Auditable Health Data:</a:t>
                </a:r>
                <a:r>
                  <a:rPr sz="1400" b="0" i="0" dirty="0">
                    <a:solidFill>
                      <a:srgbClr val="2D3748"/>
                    </a:solidFill>
                    <a:latin typeface="Times New Roman"/>
                  </a:rPr>
                  <a:t> Provides Maharashtra public health authorities with tamper-proof, real-time clinical delivery metrics.</a:t>
                </a:r>
              </a:p>
              <a:p>
                <a:pPr>
                  <a:spcAft>
                    <a:spcPts val="300"/>
                  </a:spcAft>
                </a:pPr>
                <a:r>
                  <a:rPr sz="1400" b="1" i="0" dirty="0">
                    <a:solidFill>
                      <a:srgbClr val="1A365D"/>
                    </a:solidFill>
                    <a:latin typeface="Times New Roman"/>
                  </a:rPr>
                  <a:t>• Proactive Policy Planning:</a:t>
                </a:r>
                <a:r>
                  <a:rPr sz="1400" b="0" i="0" dirty="0">
                    <a:solidFill>
                      <a:srgbClr val="2D3748"/>
                    </a:solidFill>
                    <a:latin typeface="Times New Roman"/>
                  </a:rPr>
                  <a:t> Geospatial disease mapping allows data-driven deployment of mobile medical units and specialist camps</a:t>
                </a:r>
                <a:r>
                  <a:rPr sz="850" b="0" i="0" dirty="0">
                    <a:solidFill>
                      <a:srgbClr val="2D3748"/>
                    </a:solidFill>
                    <a:latin typeface="Times New Roman"/>
                  </a:rPr>
                  <a:t>.</a:t>
                </a:r>
              </a:p>
            </p:txBody>
          </p:sp>
        </p:grpSp>
      </p:grpSp>
      <p:sp>
        <p:nvSpPr>
          <p:cNvPr id="38" name="Rectangle 37"/>
          <p:cNvSpPr/>
          <p:nvPr/>
        </p:nvSpPr>
        <p:spPr>
          <a:xfrm>
            <a:off x="254000" y="7875036"/>
            <a:ext cx="17272000" cy="2159000"/>
          </a:xfrm>
          <a:prstGeom prst="rect">
            <a:avLst/>
          </a:prstGeom>
          <a:solidFill>
            <a:srgbClr val="F7FAFC"/>
          </a:solidFill>
          <a:ln w="1270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4500" y="7913136"/>
            <a:ext cx="8629029" cy="400110"/>
          </a:xfrm>
          <a:prstGeom prst="rect">
            <a:avLst/>
          </a:prstGeom>
          <a:noFill/>
        </p:spPr>
        <p:txBody>
          <a:bodyPr wrap="none">
            <a:spAutoFit/>
          </a:bodyPr>
          <a:lstStyle/>
          <a:p>
            <a:pPr algn="l">
              <a:spcAft>
                <a:spcPts val="200"/>
              </a:spcAft>
            </a:pPr>
            <a:r>
              <a:rPr sz="2000" b="1" i="0" dirty="0">
                <a:solidFill>
                  <a:srgbClr val="1A365D"/>
                </a:solidFill>
                <a:latin typeface="Times New Roman"/>
              </a:rPr>
              <a:t>Stakeholder Transformation Matrix (Target Audience Beneficiary Outcomes)</a:t>
            </a:r>
          </a:p>
        </p:txBody>
      </p:sp>
      <p:sp>
        <p:nvSpPr>
          <p:cNvPr id="40" name="TextBox 39"/>
          <p:cNvSpPr txBox="1"/>
          <p:nvPr/>
        </p:nvSpPr>
        <p:spPr>
          <a:xfrm>
            <a:off x="444500" y="8354224"/>
            <a:ext cx="4000500" cy="1626086"/>
          </a:xfrm>
          <a:prstGeom prst="rect">
            <a:avLst/>
          </a:prstGeom>
          <a:noFill/>
        </p:spPr>
        <p:txBody>
          <a:bodyPr wrap="square">
            <a:spAutoFit/>
          </a:bodyPr>
          <a:lstStyle/>
          <a:p>
            <a:pPr algn="l">
              <a:spcAft>
                <a:spcPts val="200"/>
              </a:spcAft>
            </a:pPr>
            <a:r>
              <a:rPr b="1" i="0" dirty="0">
                <a:solidFill>
                  <a:srgbClr val="1A365D"/>
                </a:solidFill>
                <a:latin typeface="Times New Roman"/>
              </a:rPr>
              <a:t>Rural Citizens &amp; Patients</a:t>
            </a:r>
          </a:p>
          <a:p>
            <a:pPr algn="l">
              <a:spcAft>
                <a:spcPts val="200"/>
              </a:spcAft>
            </a:pPr>
            <a:r>
              <a:rPr sz="1600" b="0" i="0" dirty="0">
                <a:solidFill>
                  <a:srgbClr val="2D3748"/>
                </a:solidFill>
                <a:latin typeface="Times New Roman"/>
              </a:rPr>
              <a:t>Dignified outpatient experience with near-zero queue waiting; instant teleconsultation access to specialists; permanent ABHA-linked health identity accessible across all government hospitals.</a:t>
            </a:r>
          </a:p>
        </p:txBody>
      </p:sp>
      <p:sp>
        <p:nvSpPr>
          <p:cNvPr id="41" name="TextBox 40"/>
          <p:cNvSpPr txBox="1"/>
          <p:nvPr/>
        </p:nvSpPr>
        <p:spPr>
          <a:xfrm>
            <a:off x="4666281" y="8354224"/>
            <a:ext cx="4000500" cy="1626086"/>
          </a:xfrm>
          <a:prstGeom prst="rect">
            <a:avLst/>
          </a:prstGeom>
          <a:noFill/>
        </p:spPr>
        <p:txBody>
          <a:bodyPr wrap="square">
            <a:spAutoFit/>
          </a:bodyPr>
          <a:lstStyle/>
          <a:p>
            <a:pPr algn="l">
              <a:spcAft>
                <a:spcPts val="200"/>
              </a:spcAft>
            </a:pPr>
            <a:r>
              <a:rPr b="1" i="0" dirty="0">
                <a:solidFill>
                  <a:srgbClr val="1A365D"/>
                </a:solidFill>
                <a:latin typeface="Times New Roman"/>
              </a:rPr>
              <a:t>ASHA &amp; Community Workers</a:t>
            </a:r>
          </a:p>
          <a:p>
            <a:pPr algn="l">
              <a:spcAft>
                <a:spcPts val="200"/>
              </a:spcAft>
            </a:pPr>
            <a:r>
              <a:rPr sz="1600" b="0" i="0" dirty="0">
                <a:solidFill>
                  <a:srgbClr val="2D3748"/>
                </a:solidFill>
                <a:latin typeface="Times New Roman"/>
              </a:rPr>
              <a:t>Replaces bulky paper registers with a lightweight, offline mobile job aid; automated household survey prompts; validated proxy care tools ensuring timely maternal and child health interventions.</a:t>
            </a:r>
          </a:p>
        </p:txBody>
      </p:sp>
      <p:sp>
        <p:nvSpPr>
          <p:cNvPr id="42" name="TextBox 41"/>
          <p:cNvSpPr txBox="1"/>
          <p:nvPr/>
        </p:nvSpPr>
        <p:spPr>
          <a:xfrm>
            <a:off x="8826500" y="8354224"/>
            <a:ext cx="4000500" cy="1626086"/>
          </a:xfrm>
          <a:prstGeom prst="rect">
            <a:avLst/>
          </a:prstGeom>
          <a:noFill/>
        </p:spPr>
        <p:txBody>
          <a:bodyPr wrap="square">
            <a:spAutoFit/>
          </a:bodyPr>
          <a:lstStyle/>
          <a:p>
            <a:pPr algn="l">
              <a:spcAft>
                <a:spcPts val="200"/>
              </a:spcAft>
            </a:pPr>
            <a:r>
              <a:rPr b="1" i="0" dirty="0">
                <a:solidFill>
                  <a:srgbClr val="1A365D"/>
                </a:solidFill>
                <a:latin typeface="Times New Roman"/>
              </a:rPr>
              <a:t>Medical Officers &amp; Doctors</a:t>
            </a:r>
          </a:p>
          <a:p>
            <a:pPr algn="l">
              <a:spcAft>
                <a:spcPts val="200"/>
              </a:spcAft>
            </a:pPr>
            <a:r>
              <a:rPr sz="1600" b="0" i="0" dirty="0">
                <a:solidFill>
                  <a:srgbClr val="2D3748"/>
                </a:solidFill>
                <a:latin typeface="Times New Roman"/>
              </a:rPr>
              <a:t>Pre-consultation triage summaries and longitudinal history reduce diagnostic guesswork; one-click e-prescriptions; automated referral escalation without manual paper writing.</a:t>
            </a:r>
          </a:p>
        </p:txBody>
      </p:sp>
      <p:sp>
        <p:nvSpPr>
          <p:cNvPr id="43" name="TextBox 42"/>
          <p:cNvSpPr txBox="1"/>
          <p:nvPr/>
        </p:nvSpPr>
        <p:spPr>
          <a:xfrm>
            <a:off x="13017500" y="8354224"/>
            <a:ext cx="4000500" cy="1379865"/>
          </a:xfrm>
          <a:prstGeom prst="rect">
            <a:avLst/>
          </a:prstGeom>
          <a:noFill/>
        </p:spPr>
        <p:txBody>
          <a:bodyPr wrap="square">
            <a:spAutoFit/>
          </a:bodyPr>
          <a:lstStyle/>
          <a:p>
            <a:pPr>
              <a:spcAft>
                <a:spcPts val="200"/>
              </a:spcAft>
            </a:pPr>
            <a:r>
              <a:rPr b="1" i="0" dirty="0">
                <a:solidFill>
                  <a:srgbClr val="1A365D"/>
                </a:solidFill>
                <a:latin typeface="Times New Roman"/>
              </a:rPr>
              <a:t>Public</a:t>
            </a:r>
            <a:r>
              <a:rPr lang="en-IN" b="1" dirty="0">
                <a:solidFill>
                  <a:srgbClr val="1A365D"/>
                </a:solidFill>
                <a:latin typeface="Times New Roman"/>
              </a:rPr>
              <a:t>Health Administration</a:t>
            </a:r>
            <a:endParaRPr b="1" i="0" dirty="0">
              <a:solidFill>
                <a:srgbClr val="1A365D"/>
              </a:solidFill>
              <a:latin typeface="Times New Roman"/>
            </a:endParaRPr>
          </a:p>
          <a:p>
            <a:pPr algn="l">
              <a:spcAft>
                <a:spcPts val="200"/>
              </a:spcAft>
            </a:pPr>
            <a:r>
              <a:rPr sz="1600" b="0" i="0" dirty="0">
                <a:solidFill>
                  <a:srgbClr val="2D3748"/>
                </a:solidFill>
                <a:latin typeface="Times New Roman"/>
              </a:rPr>
              <a:t>Real-time village-level epidemiological surveillance dashboards; proactive inventory stockout alerts; evidence-based resource allocation across Maharashtra health districts</a:t>
            </a:r>
            <a:r>
              <a:rPr sz="850" b="0" i="0" dirty="0">
                <a:solidFill>
                  <a:srgbClr val="2D3748"/>
                </a:solidFill>
                <a:latin typeface="Times New Roman"/>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946" y="9739312"/>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a:p>
          </p:txBody>
        </p:sp>
      </p:grpSp>
      <p:grpSp>
        <p:nvGrpSpPr>
          <p:cNvPr id="4" name="Group 4"/>
          <p:cNvGrpSpPr/>
          <p:nvPr/>
        </p:nvGrpSpPr>
        <p:grpSpPr>
          <a:xfrm>
            <a:off x="13456272" y="9729788"/>
            <a:ext cx="4267200" cy="547688"/>
            <a:chOff x="0" y="0"/>
            <a:chExt cx="5689600" cy="730250"/>
          </a:xfrm>
        </p:grpSpPr>
        <p:sp>
          <p:nvSpPr>
            <p:cNvPr id="5" name="Freeform 5"/>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txBody>
            <a:bodyPr/>
            <a:lstStyle/>
            <a:p>
              <a:endParaRPr/>
            </a:p>
          </p:txBody>
        </p:sp>
        <p:sp>
          <p:nvSpPr>
            <p:cNvPr id="6" name="TextBox 6"/>
            <p:cNvSpPr txBox="1"/>
            <p:nvPr/>
          </p:nvSpPr>
          <p:spPr>
            <a:xfrm>
              <a:off x="0" y="-19050"/>
              <a:ext cx="5689600" cy="749300"/>
            </a:xfrm>
            <a:prstGeom prst="rect">
              <a:avLst/>
            </a:prstGeom>
          </p:spPr>
          <p:txBody>
            <a:bodyPr lIns="0" tIns="0" rIns="0" bIns="0" rtlCol="0" anchor="ctr"/>
            <a:lstStyle/>
            <a:p>
              <a:pPr algn="r">
                <a:lnSpc>
                  <a:spcPts val="2759"/>
                </a:lnSpc>
              </a:pPr>
              <a:r>
                <a:rPr lang="en-US" sz="2299" b="1">
                  <a:solidFill>
                    <a:srgbClr val="FFFFFF"/>
                  </a:solidFill>
                  <a:latin typeface="Times New Roman"/>
                  <a:ea typeface="Arimo Bold"/>
                  <a:cs typeface="Arimo Bold"/>
                  <a:sym typeface="Arimo Bold"/>
                </a:rPr>
                <a:t>6</a:t>
              </a:r>
            </a:p>
          </p:txBody>
        </p:sp>
      </p:grpSp>
      <p:grpSp>
        <p:nvGrpSpPr>
          <p:cNvPr id="7" name="Group 7"/>
          <p:cNvGrpSpPr/>
          <p:nvPr/>
        </p:nvGrpSpPr>
        <p:grpSpPr>
          <a:xfrm>
            <a:off x="479310" y="226254"/>
            <a:ext cx="1716519" cy="1119117"/>
            <a:chOff x="0" y="0"/>
            <a:chExt cx="2554516" cy="1665465"/>
          </a:xfrm>
        </p:grpSpPr>
        <p:sp>
          <p:nvSpPr>
            <p:cNvPr id="8" name="Freeform 8"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a:p>
          </p:txBody>
        </p:sp>
        <p:sp>
          <p:nvSpPr>
            <p:cNvPr id="9" name="TextBox 9"/>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700">
                  <a:solidFill>
                    <a:srgbClr val="000000"/>
                  </a:solidFill>
                  <a:latin typeface="Times New Roman"/>
                  <a:ea typeface="Calibri (MS)"/>
                  <a:cs typeface="Calibri (MS)"/>
                  <a:sym typeface="Calibri (MS)"/>
                </a:rPr>
                <a:t>ArogyaX</a:t>
              </a:r>
            </a:p>
          </p:txBody>
        </p:sp>
      </p:grpSp>
      <p:grpSp>
        <p:nvGrpSpPr>
          <p:cNvPr id="10" name="Group 10"/>
          <p:cNvGrpSpPr/>
          <p:nvPr/>
        </p:nvGrpSpPr>
        <p:grpSpPr>
          <a:xfrm>
            <a:off x="15374943" y="93187"/>
            <a:ext cx="2798788" cy="1321534"/>
            <a:chOff x="0" y="0"/>
            <a:chExt cx="4499699" cy="2124672"/>
          </a:xfrm>
        </p:grpSpPr>
        <p:sp>
          <p:nvSpPr>
            <p:cNvPr id="11" name="Freeform 11"/>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a:p>
          </p:txBody>
        </p:sp>
      </p:grpSp>
      <p:grpSp>
        <p:nvGrpSpPr>
          <p:cNvPr id="12" name="Group 12"/>
          <p:cNvGrpSpPr/>
          <p:nvPr/>
        </p:nvGrpSpPr>
        <p:grpSpPr>
          <a:xfrm>
            <a:off x="914400" y="0"/>
            <a:ext cx="16459200" cy="1714500"/>
            <a:chOff x="0" y="0"/>
            <a:chExt cx="21945600" cy="2286000"/>
          </a:xfrm>
        </p:grpSpPr>
        <p:sp>
          <p:nvSpPr>
            <p:cNvPr id="13" name="Freeform 13"/>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a:p>
          </p:txBody>
        </p:sp>
        <p:sp>
          <p:nvSpPr>
            <p:cNvPr id="14" name="TextBox 14"/>
            <p:cNvSpPr txBox="1"/>
            <p:nvPr/>
          </p:nvSpPr>
          <p:spPr>
            <a:xfrm>
              <a:off x="0" y="-9525"/>
              <a:ext cx="21945600" cy="2295525"/>
            </a:xfrm>
            <a:prstGeom prst="rect">
              <a:avLst/>
            </a:prstGeom>
          </p:spPr>
          <p:txBody>
            <a:bodyPr lIns="0" tIns="0" rIns="0" bIns="0" rtlCol="0" anchor="ctr"/>
            <a:lstStyle/>
            <a:p>
              <a:pPr algn="ctr">
                <a:lnSpc>
                  <a:spcPts val="6000"/>
                </a:lnSpc>
              </a:pPr>
              <a:r>
                <a:rPr sz="2800" b="1" dirty="0">
                  <a:solidFill>
                    <a:srgbClr val="1A365D"/>
                  </a:solidFill>
                  <a:latin typeface="Times New Roman"/>
                </a:rPr>
                <a:t>RESEARCH FOUNDATIONS AND REFERENCES</a:t>
              </a:r>
            </a:p>
          </p:txBody>
        </p:sp>
      </p:grpSp>
      <p:sp>
        <p:nvSpPr>
          <p:cNvPr id="15" name="Rectangle 14"/>
          <p:cNvSpPr/>
          <p:nvPr/>
        </p:nvSpPr>
        <p:spPr>
          <a:xfrm>
            <a:off x="508000" y="1460500"/>
            <a:ext cx="11176000" cy="8001000"/>
          </a:xfrm>
          <a:prstGeom prst="rect">
            <a:avLst/>
          </a:prstGeom>
          <a:solidFill>
            <a:srgbClr val="FFFFFF"/>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8500" y="1524000"/>
            <a:ext cx="7294882" cy="461665"/>
          </a:xfrm>
          <a:prstGeom prst="rect">
            <a:avLst/>
          </a:prstGeom>
          <a:noFill/>
        </p:spPr>
        <p:txBody>
          <a:bodyPr wrap="none">
            <a:spAutoFit/>
          </a:bodyPr>
          <a:lstStyle/>
          <a:p>
            <a:pPr algn="l">
              <a:spcAft>
                <a:spcPts val="200"/>
              </a:spcAft>
            </a:pPr>
            <a:r>
              <a:rPr sz="2400" b="1" i="0" dirty="0">
                <a:solidFill>
                  <a:srgbClr val="1A365D"/>
                </a:solidFill>
                <a:latin typeface="Times New Roman"/>
              </a:rPr>
              <a:t>Peer-Reviewed Scientific Literature (APA 7th Edition)</a:t>
            </a:r>
          </a:p>
        </p:txBody>
      </p:sp>
      <p:sp>
        <p:nvSpPr>
          <p:cNvPr id="17" name="TextBox 16"/>
          <p:cNvSpPr txBox="1"/>
          <p:nvPr/>
        </p:nvSpPr>
        <p:spPr>
          <a:xfrm>
            <a:off x="698500" y="1905000"/>
            <a:ext cx="10795000" cy="7429500"/>
          </a:xfrm>
          <a:prstGeom prst="rect">
            <a:avLst/>
          </a:prstGeom>
          <a:noFill/>
        </p:spPr>
        <p:txBody>
          <a:bodyPr wrap="square">
            <a:spAutoFit/>
          </a:bodyPr>
          <a:lstStyle/>
          <a:p>
            <a:pPr>
              <a:spcAft>
                <a:spcPts val="100"/>
              </a:spcAft>
            </a:pPr>
            <a:r>
              <a:rPr sz="1400" b="1" i="0" dirty="0">
                <a:solidFill>
                  <a:srgbClr val="1A365D"/>
                </a:solidFill>
                <a:latin typeface="Times New Roman"/>
              </a:rPr>
              <a:t>1. Rural Telemedicine &amp; Assisted Care Delivery in India</a:t>
            </a:r>
          </a:p>
          <a:p>
            <a:pPr>
              <a:spcAft>
                <a:spcPts val="100"/>
              </a:spcAft>
            </a:pPr>
            <a:r>
              <a:rPr sz="1400" b="0" i="0" dirty="0">
                <a:solidFill>
                  <a:srgbClr val="2D3748"/>
                </a:solidFill>
                <a:latin typeface="Times New Roman"/>
              </a:rPr>
              <a:t>Ghosh </a:t>
            </a:r>
            <a:r>
              <a:rPr sz="1400" b="0" i="0" dirty="0" err="1">
                <a:solidFill>
                  <a:srgbClr val="2D3748"/>
                </a:solidFill>
                <a:latin typeface="Times New Roman"/>
              </a:rPr>
              <a:t>Dastidar</a:t>
            </a:r>
            <a:r>
              <a:rPr sz="1400" b="0" i="0" dirty="0">
                <a:solidFill>
                  <a:srgbClr val="2D3748"/>
                </a:solidFill>
                <a:latin typeface="Times New Roman"/>
              </a:rPr>
              <a:t>, B., Jani, A. R., Suri, S., &amp; Nagaraja, V. H. (2024). Reimagining India's national telemedicine service to improve access to care. The Lancet Regional Health - Southeast Asia, 30, Article 100480. </a:t>
            </a:r>
            <a:r>
              <a:rPr sz="1400" b="0" i="1" dirty="0">
                <a:solidFill>
                  <a:srgbClr val="2B6CB0"/>
                </a:solidFill>
                <a:latin typeface="Times New Roman"/>
              </a:rPr>
              <a:t>https://doi.org/10.1016/j.lansea.2024.100480</a:t>
            </a:r>
          </a:p>
          <a:p>
            <a:pPr>
              <a:spcAft>
                <a:spcPts val="500"/>
              </a:spcAft>
            </a:pPr>
            <a:r>
              <a:rPr sz="1400" b="0" i="1" dirty="0">
                <a:solidFill>
                  <a:srgbClr val="718096"/>
                </a:solidFill>
                <a:latin typeface="Times New Roman"/>
              </a:rPr>
              <a:t>Architectural Relevance: Evaluates national telemedicine adoption (</a:t>
            </a:r>
            <a:r>
              <a:rPr sz="1400" b="0" i="1" dirty="0" err="1">
                <a:solidFill>
                  <a:srgbClr val="718096"/>
                </a:solidFill>
                <a:latin typeface="Times New Roman"/>
              </a:rPr>
              <a:t>eSanjeevani</a:t>
            </a:r>
            <a:r>
              <a:rPr sz="1400" b="0" i="1" dirty="0">
                <a:solidFill>
                  <a:srgbClr val="718096"/>
                </a:solidFill>
                <a:latin typeface="Times New Roman"/>
              </a:rPr>
              <a:t>), demonstrating that assisted hub-and-spoke models and low-bandwidth audio fallback are essential for overcoming rural infrastructure barriers.</a:t>
            </a:r>
          </a:p>
          <a:p>
            <a:pPr>
              <a:spcAft>
                <a:spcPts val="100"/>
              </a:spcAft>
            </a:pPr>
            <a:r>
              <a:rPr sz="1400" b="1" i="0" dirty="0">
                <a:solidFill>
                  <a:srgbClr val="1A365D"/>
                </a:solidFill>
                <a:latin typeface="Times New Roman"/>
              </a:rPr>
              <a:t>2. Outpatient Token Systems &amp; Wait-Time Reduction</a:t>
            </a:r>
          </a:p>
          <a:p>
            <a:pPr>
              <a:spcAft>
                <a:spcPts val="100"/>
              </a:spcAft>
            </a:pPr>
            <a:r>
              <a:rPr sz="1400" b="0" i="0" dirty="0" err="1">
                <a:solidFill>
                  <a:srgbClr val="2D3748"/>
                </a:solidFill>
                <a:latin typeface="Times New Roman"/>
              </a:rPr>
              <a:t>Neogi</a:t>
            </a:r>
            <a:r>
              <a:rPr sz="1400" b="0" i="0" dirty="0">
                <a:solidFill>
                  <a:srgbClr val="2D3748"/>
                </a:solidFill>
                <a:latin typeface="Times New Roman"/>
              </a:rPr>
              <a:t>, S. B., </a:t>
            </a:r>
            <a:r>
              <a:rPr sz="1400" b="0" i="0" dirty="0" err="1">
                <a:solidFill>
                  <a:srgbClr val="2D3748"/>
                </a:solidFill>
                <a:latin typeface="Times New Roman"/>
              </a:rPr>
              <a:t>Pagaria</a:t>
            </a:r>
            <a:r>
              <a:rPr sz="1400" b="0" i="0" dirty="0">
                <a:solidFill>
                  <a:srgbClr val="2D3748"/>
                </a:solidFill>
                <a:latin typeface="Times New Roman"/>
              </a:rPr>
              <a:t>, V., Dutta, S., Bele, N., Yadava, P., &amp; Samtani, R. (2025). Scan and share to register outpatients, India. Bulletin of the World Health Organization, 103(2), 164–169. </a:t>
            </a:r>
            <a:r>
              <a:rPr sz="1400" b="0" i="1" dirty="0">
                <a:solidFill>
                  <a:srgbClr val="2B6CB0"/>
                </a:solidFill>
                <a:latin typeface="Times New Roman"/>
              </a:rPr>
              <a:t>https://doi.org/10.2471/BLT.24.292186</a:t>
            </a:r>
          </a:p>
          <a:p>
            <a:pPr>
              <a:spcAft>
                <a:spcPts val="500"/>
              </a:spcAft>
            </a:pPr>
            <a:r>
              <a:rPr sz="1400" b="0" i="1" dirty="0">
                <a:solidFill>
                  <a:srgbClr val="718096"/>
                </a:solidFill>
                <a:latin typeface="Times New Roman"/>
              </a:rPr>
              <a:t>Architectural Relevance: Empirically validates that QR-code-driven digital </a:t>
            </a:r>
            <a:r>
              <a:rPr sz="1400" b="0" i="1" dirty="0" err="1">
                <a:solidFill>
                  <a:srgbClr val="718096"/>
                </a:solidFill>
                <a:latin typeface="Times New Roman"/>
              </a:rPr>
              <a:t>tokenisation</a:t>
            </a:r>
            <a:r>
              <a:rPr sz="1400" b="0" i="1" dirty="0">
                <a:solidFill>
                  <a:srgbClr val="718096"/>
                </a:solidFill>
                <a:latin typeface="Times New Roman"/>
              </a:rPr>
              <a:t> and demographic sharing reduce public hospital OPD registration waiting times from 60 minutes to under 5 minutes across 16,000+ facilities.</a:t>
            </a:r>
          </a:p>
          <a:p>
            <a:pPr>
              <a:spcAft>
                <a:spcPts val="100"/>
              </a:spcAft>
            </a:pPr>
            <a:r>
              <a:rPr sz="1400" b="1" i="0" dirty="0">
                <a:solidFill>
                  <a:srgbClr val="1A365D"/>
                </a:solidFill>
                <a:latin typeface="Times New Roman"/>
              </a:rPr>
              <a:t>3. Frontline ASHA Worker Mobile Health Intervention (RCT)</a:t>
            </a:r>
          </a:p>
          <a:p>
            <a:pPr>
              <a:spcAft>
                <a:spcPts val="100"/>
              </a:spcAft>
            </a:pPr>
            <a:r>
              <a:rPr sz="1400" b="0" i="0" dirty="0">
                <a:solidFill>
                  <a:srgbClr val="2D3748"/>
                </a:solidFill>
                <a:latin typeface="Times New Roman"/>
              </a:rPr>
              <a:t>Modi, D., Dholakia, N., Gopalan, R., Venkatraman, S., Dave, K., Desai, S., &amp; Singh, G. (2019). mHealth intervention '</a:t>
            </a:r>
            <a:r>
              <a:rPr sz="1400" b="0" i="0" dirty="0" err="1">
                <a:solidFill>
                  <a:srgbClr val="2D3748"/>
                </a:solidFill>
                <a:latin typeface="Times New Roman"/>
              </a:rPr>
              <a:t>ImTeCHO</a:t>
            </a:r>
            <a:r>
              <a:rPr sz="1400" b="0" i="0" dirty="0">
                <a:solidFill>
                  <a:srgbClr val="2D3748"/>
                </a:solidFill>
                <a:latin typeface="Times New Roman"/>
              </a:rPr>
              <a:t>' to improve delivery of maternal, neonatal, and child care services—A cluster-randomized trial in tribal areas of Gujarat, India. PLOS Medicine, 16(10), Article e1002939. </a:t>
            </a:r>
            <a:r>
              <a:rPr sz="1400" b="0" i="1" dirty="0">
                <a:solidFill>
                  <a:srgbClr val="2B6CB0"/>
                </a:solidFill>
                <a:latin typeface="Times New Roman"/>
              </a:rPr>
              <a:t>https://doi.org/10.1371/journal.pmed.1002939</a:t>
            </a:r>
          </a:p>
          <a:p>
            <a:pPr>
              <a:spcAft>
                <a:spcPts val="500"/>
              </a:spcAft>
            </a:pPr>
            <a:r>
              <a:rPr sz="1400" b="0" i="1" dirty="0">
                <a:solidFill>
                  <a:srgbClr val="718096"/>
                </a:solidFill>
                <a:latin typeface="Times New Roman"/>
              </a:rPr>
              <a:t>Architectural Relevance: Proves via a large-scale cluster-randomized trial that mobile clinical job aids for ASHAs significantly improve timely antenatal/postnatal care delivery and maternal-child health outcomes in tribal settings.</a:t>
            </a:r>
          </a:p>
          <a:p>
            <a:pPr>
              <a:spcAft>
                <a:spcPts val="100"/>
              </a:spcAft>
            </a:pPr>
            <a:r>
              <a:rPr sz="1400" b="1" i="0" dirty="0">
                <a:solidFill>
                  <a:srgbClr val="1A365D"/>
                </a:solidFill>
                <a:latin typeface="Times New Roman"/>
              </a:rPr>
              <a:t>4. Local-First Distributed Systems &amp; Offline Synchronization</a:t>
            </a:r>
          </a:p>
          <a:p>
            <a:pPr>
              <a:spcAft>
                <a:spcPts val="100"/>
              </a:spcAft>
            </a:pPr>
            <a:r>
              <a:rPr sz="1400" b="0" i="0" dirty="0" err="1">
                <a:solidFill>
                  <a:srgbClr val="2D3748"/>
                </a:solidFill>
                <a:latin typeface="Times New Roman"/>
              </a:rPr>
              <a:t>Kleppmann</a:t>
            </a:r>
            <a:r>
              <a:rPr sz="1400" b="0" i="0" dirty="0">
                <a:solidFill>
                  <a:srgbClr val="2D3748"/>
                </a:solidFill>
                <a:latin typeface="Times New Roman"/>
              </a:rPr>
              <a:t>, M., Wiggins, A., van Hardenberg, P., &amp; McGranaghan, M. (2019). Local-first software: You own your data, in spite of the cloud. In Proceedings of the 2019 ACM SIGPLAN International Symposium on New Ideas, New Paradigms, and Reflections on Programming and Software (Onward! 2019) (pp. 154–178). ACM. </a:t>
            </a:r>
            <a:r>
              <a:rPr sz="1400" b="0" i="1" dirty="0">
                <a:solidFill>
                  <a:srgbClr val="2B6CB0"/>
                </a:solidFill>
                <a:latin typeface="Times New Roman"/>
              </a:rPr>
              <a:t>https://doi.org/10.1145/3359591.3359737</a:t>
            </a:r>
          </a:p>
          <a:p>
            <a:pPr>
              <a:spcAft>
                <a:spcPts val="500"/>
              </a:spcAft>
            </a:pPr>
            <a:r>
              <a:rPr sz="1400" b="0" i="1" dirty="0">
                <a:solidFill>
                  <a:srgbClr val="718096"/>
                </a:solidFill>
                <a:latin typeface="Times New Roman"/>
              </a:rPr>
              <a:t>Architectural Relevance: Provides the foundational theoretical principles for </a:t>
            </a:r>
            <a:r>
              <a:rPr sz="1400" b="0" i="1" dirty="0" err="1">
                <a:solidFill>
                  <a:srgbClr val="718096"/>
                </a:solidFill>
                <a:latin typeface="Times New Roman"/>
              </a:rPr>
              <a:t>VitalSense's</a:t>
            </a:r>
            <a:r>
              <a:rPr sz="1400" b="0" i="1" dirty="0">
                <a:solidFill>
                  <a:srgbClr val="718096"/>
                </a:solidFill>
                <a:latin typeface="Times New Roman"/>
              </a:rPr>
              <a:t> transactional outbox, local persistence, and background conflict-resolution mechanisms under intermittent rural connectivity.</a:t>
            </a:r>
          </a:p>
          <a:p>
            <a:pPr>
              <a:spcAft>
                <a:spcPts val="100"/>
              </a:spcAft>
            </a:pPr>
            <a:r>
              <a:rPr sz="1400" b="1" i="0" dirty="0">
                <a:solidFill>
                  <a:srgbClr val="1A365D"/>
                </a:solidFill>
                <a:latin typeface="Times New Roman"/>
              </a:rPr>
              <a:t>5. Queueing Theory for Hospital Outpatient Flow Optimization</a:t>
            </a:r>
          </a:p>
          <a:p>
            <a:pPr>
              <a:spcAft>
                <a:spcPts val="100"/>
              </a:spcAft>
            </a:pPr>
            <a:r>
              <a:rPr sz="1400" b="0" i="0" dirty="0">
                <a:solidFill>
                  <a:srgbClr val="2D3748"/>
                </a:solidFill>
                <a:latin typeface="Times New Roman"/>
              </a:rPr>
              <a:t>Cho, K. W., Kim, S. M., Chae, Y. M., &amp; Song, Y. U. (2017). Application of queueing theory to the analysis of changes in outpatients' waiting times in hospitals introducing EMR. Health Informatics Research, 23(1), 35–42. </a:t>
            </a:r>
            <a:r>
              <a:rPr sz="1400" b="0" i="1" dirty="0">
                <a:solidFill>
                  <a:srgbClr val="2B6CB0"/>
                </a:solidFill>
                <a:latin typeface="Times New Roman"/>
              </a:rPr>
              <a:t>https://doi.org/10.4258/hir.2017.23.1.35</a:t>
            </a:r>
          </a:p>
          <a:p>
            <a:pPr>
              <a:spcAft>
                <a:spcPts val="500"/>
              </a:spcAft>
            </a:pPr>
            <a:r>
              <a:rPr sz="1400" b="0" i="1" dirty="0">
                <a:solidFill>
                  <a:srgbClr val="718096"/>
                </a:solidFill>
                <a:latin typeface="Times New Roman"/>
              </a:rPr>
              <a:t>Architectural Relevance: Formulates M/M/1 and multi-server queueing models correlating digital arrival rates with clinical service rates to eliminate outpatient bottlenecks and dynamic wait-time estimation.</a:t>
            </a:r>
          </a:p>
          <a:p>
            <a:pPr>
              <a:spcAft>
                <a:spcPts val="100"/>
              </a:spcAft>
            </a:pPr>
            <a:r>
              <a:rPr sz="1400" b="1" i="0" dirty="0">
                <a:solidFill>
                  <a:srgbClr val="1A365D"/>
                </a:solidFill>
                <a:latin typeface="Times New Roman"/>
              </a:rPr>
              <a:t>6. Machine Learning &amp; On-Device OCR for Medical Prescriptions</a:t>
            </a:r>
          </a:p>
          <a:p>
            <a:pPr>
              <a:spcAft>
                <a:spcPts val="100"/>
              </a:spcAft>
            </a:pPr>
            <a:r>
              <a:rPr sz="1400" b="0" i="0" dirty="0">
                <a:solidFill>
                  <a:srgbClr val="2D3748"/>
                </a:solidFill>
                <a:latin typeface="Times New Roman"/>
              </a:rPr>
              <a:t>Hassan, E. R., Mahgoub, H., &amp; Al-</a:t>
            </a:r>
            <a:r>
              <a:rPr sz="1400" b="0" i="0" dirty="0" err="1">
                <a:solidFill>
                  <a:srgbClr val="2D3748"/>
                </a:solidFill>
                <a:latin typeface="Times New Roman"/>
              </a:rPr>
              <a:t>Nuaimy</a:t>
            </a:r>
            <a:r>
              <a:rPr sz="1400" b="0" i="0" dirty="0">
                <a:solidFill>
                  <a:srgbClr val="2D3748"/>
                </a:solidFill>
                <a:latin typeface="Times New Roman"/>
              </a:rPr>
              <a:t>, W. (2021). Medical prescription recognition using machine learning. In 2021 IEEE 11th Annual Computing and Communication Workshop and Conference (CCWC) (pp. 0825–0831). IEEE. </a:t>
            </a:r>
            <a:r>
              <a:rPr sz="1400" b="0" i="1" dirty="0">
                <a:solidFill>
                  <a:srgbClr val="2B6CB0"/>
                </a:solidFill>
                <a:latin typeface="Times New Roman"/>
              </a:rPr>
              <a:t>https://doi.org/10.1109/CCWC51732.2021.9376136</a:t>
            </a:r>
          </a:p>
          <a:p>
            <a:pPr>
              <a:spcAft>
                <a:spcPts val="500"/>
              </a:spcAft>
            </a:pPr>
            <a:r>
              <a:rPr sz="1400" b="0" i="1" dirty="0">
                <a:solidFill>
                  <a:srgbClr val="718096"/>
                </a:solidFill>
                <a:latin typeface="Times New Roman"/>
              </a:rPr>
              <a:t>Architectural Relevance: Validates optical character recognition (OCR) preprocessing pipelines and bounding-box segmentation algorithms for indexing physical prescription records into digital health archives</a:t>
            </a:r>
            <a:r>
              <a:rPr sz="800" b="0" i="1" dirty="0">
                <a:solidFill>
                  <a:srgbClr val="718096"/>
                </a:solidFill>
                <a:latin typeface="Times New Roman"/>
              </a:rPr>
              <a:t>.</a:t>
            </a:r>
          </a:p>
        </p:txBody>
      </p:sp>
      <p:sp>
        <p:nvSpPr>
          <p:cNvPr id="18" name="Rectangle 17"/>
          <p:cNvSpPr/>
          <p:nvPr/>
        </p:nvSpPr>
        <p:spPr>
          <a:xfrm>
            <a:off x="11938000" y="1460500"/>
            <a:ext cx="5842000" cy="8001000"/>
          </a:xfrm>
          <a:prstGeom prst="rect">
            <a:avLst/>
          </a:prstGeom>
          <a:solidFill>
            <a:srgbClr val="F7FAFC"/>
          </a:solidFill>
          <a:ln w="1524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128500" y="1524000"/>
            <a:ext cx="5700600" cy="400110"/>
          </a:xfrm>
          <a:prstGeom prst="rect">
            <a:avLst/>
          </a:prstGeom>
          <a:noFill/>
        </p:spPr>
        <p:txBody>
          <a:bodyPr wrap="none">
            <a:spAutoFit/>
          </a:bodyPr>
          <a:lstStyle/>
          <a:p>
            <a:pPr algn="l">
              <a:spcAft>
                <a:spcPts val="200"/>
              </a:spcAft>
            </a:pPr>
            <a:r>
              <a:rPr sz="2000" b="1" i="0" dirty="0">
                <a:solidFill>
                  <a:srgbClr val="1A365D"/>
                </a:solidFill>
                <a:latin typeface="Times New Roman"/>
              </a:rPr>
              <a:t>National Health Frameworks &amp; System Standards</a:t>
            </a:r>
          </a:p>
        </p:txBody>
      </p:sp>
      <p:sp>
        <p:nvSpPr>
          <p:cNvPr id="20" name="TextBox 19"/>
          <p:cNvSpPr txBox="1"/>
          <p:nvPr/>
        </p:nvSpPr>
        <p:spPr>
          <a:xfrm>
            <a:off x="12128500" y="1905000"/>
            <a:ext cx="5461000" cy="6358151"/>
          </a:xfrm>
          <a:prstGeom prst="rect">
            <a:avLst/>
          </a:prstGeom>
          <a:noFill/>
        </p:spPr>
        <p:txBody>
          <a:bodyPr wrap="square">
            <a:spAutoFit/>
          </a:bodyPr>
          <a:lstStyle/>
          <a:p>
            <a:pPr>
              <a:spcAft>
                <a:spcPts val="200"/>
              </a:spcAft>
            </a:pPr>
            <a:r>
              <a:rPr sz="1400" b="1" i="0" dirty="0">
                <a:solidFill>
                  <a:srgbClr val="1A365D"/>
                </a:solidFill>
                <a:latin typeface="Times New Roman"/>
              </a:rPr>
              <a:t>Ayushman Bharat Digital Mission (ABDM)</a:t>
            </a:r>
          </a:p>
          <a:p>
            <a:pPr>
              <a:spcAft>
                <a:spcPts val="250"/>
              </a:spcAft>
            </a:pPr>
            <a:r>
              <a:rPr sz="1400" b="1" i="0" dirty="0">
                <a:solidFill>
                  <a:srgbClr val="2B6CB0"/>
                </a:solidFill>
                <a:latin typeface="Times New Roman"/>
              </a:rPr>
              <a:t>• Architectural Foundation:</a:t>
            </a:r>
            <a:r>
              <a:rPr sz="1400" b="0" i="0" dirty="0">
                <a:solidFill>
                  <a:srgbClr val="2D3748"/>
                </a:solidFill>
                <a:latin typeface="Times New Roman"/>
              </a:rPr>
              <a:t> Implements NHA standards for ABHA (Ayushman Bharat Health Account) 14-digit health ID generation.</a:t>
            </a:r>
          </a:p>
          <a:p>
            <a:pPr>
              <a:spcAft>
                <a:spcPts val="250"/>
              </a:spcAft>
            </a:pPr>
            <a:r>
              <a:rPr sz="1400" b="1" i="0" dirty="0">
                <a:solidFill>
                  <a:srgbClr val="2B6CB0"/>
                </a:solidFill>
                <a:latin typeface="Times New Roman"/>
              </a:rPr>
              <a:t>• QR Code </a:t>
            </a:r>
            <a:r>
              <a:rPr sz="1400" b="1" i="0" dirty="0" err="1">
                <a:solidFill>
                  <a:srgbClr val="2B6CB0"/>
                </a:solidFill>
                <a:latin typeface="Times New Roman"/>
              </a:rPr>
              <a:t>Tokenisation</a:t>
            </a:r>
            <a:r>
              <a:rPr sz="1400" b="1" i="0" dirty="0">
                <a:solidFill>
                  <a:srgbClr val="2B6CB0"/>
                </a:solidFill>
                <a:latin typeface="Times New Roman"/>
              </a:rPr>
              <a:t>:</a:t>
            </a:r>
            <a:r>
              <a:rPr sz="1400" b="0" i="0" dirty="0">
                <a:solidFill>
                  <a:srgbClr val="2D3748"/>
                </a:solidFill>
                <a:latin typeface="Times New Roman"/>
              </a:rPr>
              <a:t> Adheres to ABDM Scan &amp; Share specifications for rapid paperless outpatient registration.</a:t>
            </a:r>
          </a:p>
          <a:p>
            <a:pPr>
              <a:spcAft>
                <a:spcPts val="250"/>
              </a:spcAft>
            </a:pPr>
            <a:r>
              <a:rPr sz="1400" b="1" i="0" dirty="0">
                <a:solidFill>
                  <a:srgbClr val="2B6CB0"/>
                </a:solidFill>
                <a:latin typeface="Times New Roman"/>
              </a:rPr>
              <a:t>• Health Information Exchange:</a:t>
            </a:r>
            <a:r>
              <a:rPr sz="1400" b="0" i="0" dirty="0">
                <a:solidFill>
                  <a:srgbClr val="2D3748"/>
                </a:solidFill>
                <a:latin typeface="Times New Roman"/>
              </a:rPr>
              <a:t> Engineered for Milestone 1 (ABHA creation), M2 (HIP facility linking), and M3 (HIU consent-driven record sharing).</a:t>
            </a:r>
          </a:p>
          <a:p>
            <a:pPr>
              <a:spcAft>
                <a:spcPts val="200"/>
              </a:spcAft>
            </a:pPr>
            <a:r>
              <a:rPr sz="1400" b="1" i="0" dirty="0">
                <a:solidFill>
                  <a:srgbClr val="1A365D"/>
                </a:solidFill>
                <a:latin typeface="Times New Roman"/>
              </a:rPr>
              <a:t>National Health Mission (NHM) ASHA Protocols</a:t>
            </a:r>
          </a:p>
          <a:p>
            <a:pPr>
              <a:spcAft>
                <a:spcPts val="250"/>
              </a:spcAft>
            </a:pPr>
            <a:r>
              <a:rPr sz="1400" b="1" i="0" dirty="0">
                <a:solidFill>
                  <a:srgbClr val="2B6CB0"/>
                </a:solidFill>
                <a:latin typeface="Times New Roman"/>
              </a:rPr>
              <a:t>• Frontline Workflows:</a:t>
            </a:r>
            <a:r>
              <a:rPr sz="1400" b="0" i="0" dirty="0">
                <a:solidFill>
                  <a:srgbClr val="2D3748"/>
                </a:solidFill>
                <a:latin typeface="Times New Roman"/>
              </a:rPr>
              <a:t> Digitizes standard ASHA village survey modules, eligible couple registers, and mother-child tracking registers (RCH).</a:t>
            </a:r>
          </a:p>
          <a:p>
            <a:pPr>
              <a:spcAft>
                <a:spcPts val="250"/>
              </a:spcAft>
            </a:pPr>
            <a:r>
              <a:rPr sz="1400" b="1" i="0" dirty="0">
                <a:solidFill>
                  <a:srgbClr val="2B6CB0"/>
                </a:solidFill>
                <a:latin typeface="Times New Roman"/>
              </a:rPr>
              <a:t>• Assisted Proxy Care:</a:t>
            </a:r>
            <a:r>
              <a:rPr sz="1400" b="0" i="0" dirty="0">
                <a:solidFill>
                  <a:srgbClr val="2D3748"/>
                </a:solidFill>
                <a:latin typeface="Times New Roman"/>
              </a:rPr>
              <a:t> Implements authorized community health worker proxy workflows adhering to </a:t>
            </a:r>
            <a:r>
              <a:rPr sz="1400" b="0" i="0" dirty="0" err="1">
                <a:solidFill>
                  <a:srgbClr val="2D3748"/>
                </a:solidFill>
                <a:latin typeface="Times New Roman"/>
              </a:rPr>
              <a:t>MoHFW</a:t>
            </a:r>
            <a:r>
              <a:rPr sz="1400" b="0" i="0" dirty="0">
                <a:solidFill>
                  <a:srgbClr val="2D3748"/>
                </a:solidFill>
                <a:latin typeface="Times New Roman"/>
              </a:rPr>
              <a:t> rural outreach guidelines.</a:t>
            </a:r>
          </a:p>
          <a:p>
            <a:pPr>
              <a:spcAft>
                <a:spcPts val="200"/>
              </a:spcAft>
            </a:pPr>
            <a:r>
              <a:rPr sz="1400" b="1" i="0" dirty="0">
                <a:solidFill>
                  <a:srgbClr val="1A365D"/>
                </a:solidFill>
                <a:latin typeface="Times New Roman"/>
              </a:rPr>
              <a:t>Integrated Disease Surveillance </a:t>
            </a:r>
            <a:r>
              <a:rPr sz="1400" b="1" i="0" dirty="0" err="1">
                <a:solidFill>
                  <a:srgbClr val="1A365D"/>
                </a:solidFill>
                <a:latin typeface="Times New Roman"/>
              </a:rPr>
              <a:t>Programme</a:t>
            </a:r>
            <a:r>
              <a:rPr sz="1400" b="1" i="0" dirty="0">
                <a:solidFill>
                  <a:srgbClr val="1A365D"/>
                </a:solidFill>
                <a:latin typeface="Times New Roman"/>
              </a:rPr>
              <a:t> (IDSP)</a:t>
            </a:r>
          </a:p>
          <a:p>
            <a:pPr>
              <a:spcAft>
                <a:spcPts val="250"/>
              </a:spcAft>
            </a:pPr>
            <a:r>
              <a:rPr sz="1400" b="1" i="0" dirty="0">
                <a:solidFill>
                  <a:srgbClr val="2B6CB0"/>
                </a:solidFill>
                <a:latin typeface="Times New Roman"/>
              </a:rPr>
              <a:t>• Syndromic Notification:</a:t>
            </a:r>
            <a:r>
              <a:rPr sz="1400" b="0" i="0" dirty="0">
                <a:solidFill>
                  <a:srgbClr val="2D3748"/>
                </a:solidFill>
                <a:latin typeface="Times New Roman"/>
              </a:rPr>
              <a:t> Implements Form S (Syndromic reporting by village health workers) for immediate outbreak flagging.</a:t>
            </a:r>
          </a:p>
          <a:p>
            <a:pPr>
              <a:spcAft>
                <a:spcPts val="250"/>
              </a:spcAft>
            </a:pPr>
            <a:r>
              <a:rPr sz="1400" b="1" i="0" dirty="0">
                <a:solidFill>
                  <a:srgbClr val="2B6CB0"/>
                </a:solidFill>
                <a:latin typeface="Times New Roman"/>
              </a:rPr>
              <a:t>• Geospatial Surveillance:</a:t>
            </a:r>
            <a:r>
              <a:rPr sz="1400" b="0" i="0" dirty="0">
                <a:solidFill>
                  <a:srgbClr val="2D3748"/>
                </a:solidFill>
                <a:latin typeface="Times New Roman"/>
              </a:rPr>
              <a:t> Aggregates acute </a:t>
            </a:r>
            <a:r>
              <a:rPr sz="1400" b="0" i="0" dirty="0" err="1">
                <a:solidFill>
                  <a:srgbClr val="2D3748"/>
                </a:solidFill>
                <a:latin typeface="Times New Roman"/>
              </a:rPr>
              <a:t>diarrhoeal</a:t>
            </a:r>
            <a:r>
              <a:rPr sz="1400" b="0" i="0" dirty="0">
                <a:solidFill>
                  <a:srgbClr val="2D3748"/>
                </a:solidFill>
                <a:latin typeface="Times New Roman"/>
              </a:rPr>
              <a:t> disease (ADD) and viral fever cases into Taluka GIS heatmaps for rapid containment.</a:t>
            </a:r>
          </a:p>
          <a:p>
            <a:pPr>
              <a:spcAft>
                <a:spcPts val="200"/>
              </a:spcAft>
            </a:pPr>
            <a:r>
              <a:rPr sz="1400" b="1" i="0" dirty="0">
                <a:solidFill>
                  <a:srgbClr val="1A365D"/>
                </a:solidFill>
                <a:latin typeface="Times New Roman"/>
              </a:rPr>
              <a:t>Algorithmic &amp; System Foundations</a:t>
            </a:r>
          </a:p>
          <a:p>
            <a:pPr>
              <a:spcAft>
                <a:spcPts val="250"/>
              </a:spcAft>
            </a:pPr>
            <a:r>
              <a:rPr sz="1400" b="1" i="0" dirty="0">
                <a:solidFill>
                  <a:srgbClr val="2B6CB0"/>
                </a:solidFill>
                <a:latin typeface="Times New Roman"/>
              </a:rPr>
              <a:t>• M/M/1 Queueing Model:</a:t>
            </a:r>
            <a:r>
              <a:rPr sz="1400" b="0" i="0" dirty="0">
                <a:solidFill>
                  <a:srgbClr val="2D3748"/>
                </a:solidFill>
                <a:latin typeface="Times New Roman"/>
              </a:rPr>
              <a:t> Dynamic waiting time engine calculating expected delay: W = 1 / (μ - λ) based on doctor consultation rates (μ) and arrival rates (λ).</a:t>
            </a:r>
          </a:p>
          <a:p>
            <a:pPr>
              <a:spcAft>
                <a:spcPts val="250"/>
              </a:spcAft>
            </a:pPr>
            <a:r>
              <a:rPr sz="1400" b="1" i="0" dirty="0">
                <a:solidFill>
                  <a:srgbClr val="2B6CB0"/>
                </a:solidFill>
                <a:latin typeface="Times New Roman"/>
              </a:rPr>
              <a:t>• Heuristic OCR Segmentation:</a:t>
            </a:r>
            <a:r>
              <a:rPr sz="1400" b="0" i="0" dirty="0">
                <a:solidFill>
                  <a:srgbClr val="2D3748"/>
                </a:solidFill>
                <a:latin typeface="Times New Roman"/>
              </a:rPr>
              <a:t> Dual-stage image binarization and text bounding-box extraction with confidence score gating.</a:t>
            </a:r>
          </a:p>
          <a:p>
            <a:pPr>
              <a:spcAft>
                <a:spcPts val="250"/>
              </a:spcAft>
            </a:pPr>
            <a:r>
              <a:rPr sz="1400" b="1" i="0" dirty="0">
                <a:solidFill>
                  <a:srgbClr val="2B6CB0"/>
                </a:solidFill>
                <a:latin typeface="Times New Roman"/>
              </a:rPr>
              <a:t>• Cryptographic Integrity:</a:t>
            </a:r>
            <a:r>
              <a:rPr sz="1400" b="0" i="0" dirty="0">
                <a:solidFill>
                  <a:srgbClr val="2D3748"/>
                </a:solidFill>
                <a:latin typeface="Times New Roman"/>
              </a:rPr>
              <a:t> </a:t>
            </a:r>
            <a:r>
              <a:rPr sz="1400" b="0" i="0" dirty="0" err="1">
                <a:solidFill>
                  <a:srgbClr val="2D3748"/>
                </a:solidFill>
                <a:latin typeface="Times New Roman"/>
              </a:rPr>
              <a:t>SQLCipher</a:t>
            </a:r>
            <a:r>
              <a:rPr sz="1400" b="0" i="0" dirty="0">
                <a:solidFill>
                  <a:srgbClr val="2D3748"/>
                </a:solidFill>
                <a:latin typeface="Times New Roman"/>
              </a:rPr>
              <a:t> database layer with SHA-256 mutation digests and AES-256 encryption at rest</a:t>
            </a:r>
            <a:r>
              <a:rPr sz="850" b="0" i="0" dirty="0">
                <a:solidFill>
                  <a:srgbClr val="2D3748"/>
                </a:solidFill>
                <a:latin typeface="Times New Roman"/>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3571</Words>
  <Application>Microsoft Office PowerPoint</Application>
  <PresentationFormat>Custom</PresentationFormat>
  <Paragraphs>260</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SIH2026-Level2.pptx</dc:title>
  <cp:lastModifiedBy>Ansh Sraswat</cp:lastModifiedBy>
  <cp:revision>2</cp:revision>
  <dcterms:created xsi:type="dcterms:W3CDTF">2006-08-16T00:00:00Z</dcterms:created>
  <dcterms:modified xsi:type="dcterms:W3CDTF">2026-09-17T18:04:39Z</dcterms:modified>
  <dc:identifier>DAHT4BATiXw</dc:identifier>
</cp:coreProperties>
</file>